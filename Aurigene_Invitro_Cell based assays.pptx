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14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4" r:id="rId4"/>
    <p:sldMasterId id="2147483682" r:id="rId5"/>
    <p:sldMasterId id="2147483714" r:id="rId6"/>
  </p:sldMasterIdLst>
  <p:notesMasterIdLst>
    <p:notesMasterId r:id="rId20"/>
  </p:notesMasterIdLst>
  <p:sldIdLst>
    <p:sldId id="1749" r:id="rId7"/>
    <p:sldId id="2147376271" r:id="rId8"/>
    <p:sldId id="2147376272" r:id="rId9"/>
    <p:sldId id="2147376273" r:id="rId10"/>
    <p:sldId id="1818" r:id="rId11"/>
    <p:sldId id="2147376638" r:id="rId12"/>
    <p:sldId id="3090" r:id="rId13"/>
    <p:sldId id="1996" r:id="rId14"/>
    <p:sldId id="2147376648" r:id="rId15"/>
    <p:sldId id="2032" r:id="rId16"/>
    <p:sldId id="1817" r:id="rId17"/>
    <p:sldId id="1822" r:id="rId18"/>
    <p:sldId id="1826" r:id="rId19"/>
  </p:sldIdLst>
  <p:sldSz cx="24384000" cy="13716000"/>
  <p:notesSz cx="6797675" cy="987266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11952" userDrawn="1">
          <p15:clr>
            <a:srgbClr val="A4A3A4"/>
          </p15:clr>
        </p15:guide>
        <p15:guide id="3" pos="792" userDrawn="1">
          <p15:clr>
            <a:srgbClr val="A4A3A4"/>
          </p15:clr>
        </p15:guide>
        <p15:guide id="4" orient="horz" pos="8160" userDrawn="1">
          <p15:clr>
            <a:srgbClr val="A4A3A4"/>
          </p15:clr>
        </p15:guide>
        <p15:guide id="5" orient="horz" pos="8544" userDrawn="1">
          <p15:clr>
            <a:srgbClr val="A4A3A4"/>
          </p15:clr>
        </p15:guide>
        <p15:guide id="6" pos="5736" userDrawn="1">
          <p15:clr>
            <a:srgbClr val="A4A3A4"/>
          </p15:clr>
        </p15:guide>
        <p15:guide id="7" pos="39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hattacharjee Dipanwita" initials="BD" lastIdx="1" clrIdx="0">
    <p:extLst>
      <p:ext uri="{19B8F6BF-5375-455C-9EA6-DF929625EA0E}">
        <p15:presenceInfo xmlns:p15="http://schemas.microsoft.com/office/powerpoint/2012/main" userId="S::dipanwitad@aurigeneservices.com::7b92bc2d-8acd-4ffc-8d00-db68d2c89ae7" providerId="AD"/>
      </p:ext>
    </p:extLst>
  </p:cmAuthor>
  <p:cmAuthor id="2" name="Mayuri V Raman" initials="MVR" lastIdx="1" clrIdx="1">
    <p:extLst>
      <p:ext uri="{19B8F6BF-5375-455C-9EA6-DF929625EA0E}">
        <p15:presenceInfo xmlns:p15="http://schemas.microsoft.com/office/powerpoint/2012/main" userId="S::mayurivr@aurigeneservices.com::edd7b12b-f1a9-4301-9e32-cc22fe2ebc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A79E"/>
    <a:srgbClr val="0000CC"/>
    <a:srgbClr val="20A7A1"/>
    <a:srgbClr val="FB6D6D"/>
    <a:srgbClr val="E2F0D9"/>
    <a:srgbClr val="006666"/>
    <a:srgbClr val="FFF2CC"/>
    <a:srgbClr val="FFFFFF"/>
    <a:srgbClr val="000000"/>
    <a:srgbClr val="DDD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26" autoAdjust="0"/>
    <p:restoredTop sz="94095" autoAdjust="0"/>
  </p:normalViewPr>
  <p:slideViewPr>
    <p:cSldViewPr snapToGrid="0" snapToObjects="1">
      <p:cViewPr varScale="1">
        <p:scale>
          <a:sx n="36" d="100"/>
          <a:sy n="36" d="100"/>
        </p:scale>
        <p:origin x="600" y="90"/>
      </p:cViewPr>
      <p:guideLst>
        <p:guide orient="horz" pos="864"/>
        <p:guide pos="11952"/>
        <p:guide pos="792"/>
        <p:guide orient="horz" pos="8160"/>
        <p:guide orient="horz" pos="8544"/>
        <p:guide pos="5736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IN" dirty="0"/>
              <a:t>Test compound effect in THP-1 WT, THP KO &amp; Hut 78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804791276216957"/>
          <c:y val="0.11386386624254749"/>
          <c:w val="0.70204170369523056"/>
          <c:h val="0.73224061513309269"/>
        </c:manualLayout>
      </c:layout>
      <c:scatterChart>
        <c:scatterStyle val="lineMarker"/>
        <c:varyColors val="0"/>
        <c:ser>
          <c:idx val="0"/>
          <c:order val="0"/>
          <c:tx>
            <c:strRef>
              <c:f>'MPL5821-22'!$A$4</c:f>
              <c:strCache>
                <c:ptCount val="1"/>
                <c:pt idx="0">
                  <c:v>THP-1 WT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'MPL5821-22'!$K$5:$K$12</c:f>
              <c:numCache>
                <c:formatCode>0.0</c:formatCode>
                <c:ptCount val="8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3</c:v>
                </c:pt>
                <c:pt idx="4">
                  <c:v>8</c:v>
                </c:pt>
                <c:pt idx="5">
                  <c:v>16</c:v>
                </c:pt>
                <c:pt idx="6">
                  <c:v>24</c:v>
                </c:pt>
                <c:pt idx="7">
                  <c:v>48</c:v>
                </c:pt>
              </c:numCache>
            </c:numRef>
          </c:xVal>
          <c:yVal>
            <c:numRef>
              <c:f>'MPL5821-22'!$J$5:$J$12</c:f>
              <c:numCache>
                <c:formatCode>0.00</c:formatCode>
                <c:ptCount val="8"/>
                <c:pt idx="0">
                  <c:v>0</c:v>
                </c:pt>
                <c:pt idx="1">
                  <c:v>306.55348047538195</c:v>
                </c:pt>
                <c:pt idx="2">
                  <c:v>405.34238822863614</c:v>
                </c:pt>
                <c:pt idx="3">
                  <c:v>1008.7606112054331</c:v>
                </c:pt>
                <c:pt idx="4">
                  <c:v>1137.702320316921</c:v>
                </c:pt>
                <c:pt idx="5">
                  <c:v>825.53480475382003</c:v>
                </c:pt>
                <c:pt idx="6">
                  <c:v>643.5314091680815</c:v>
                </c:pt>
                <c:pt idx="7">
                  <c:v>526.54216185625353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EAC-4DF4-BD91-FFA9D64949C5}"/>
            </c:ext>
          </c:extLst>
        </c:ser>
        <c:ser>
          <c:idx val="1"/>
          <c:order val="1"/>
          <c:tx>
            <c:strRef>
              <c:f>'MPL5821-22'!$A$15</c:f>
              <c:strCache>
                <c:ptCount val="1"/>
                <c:pt idx="0">
                  <c:v>THP-1 KO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'MPL5821-22'!$K$16:$K$23</c:f>
              <c:numCache>
                <c:formatCode>0.0</c:formatCode>
                <c:ptCount val="8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3</c:v>
                </c:pt>
                <c:pt idx="4">
                  <c:v>8</c:v>
                </c:pt>
                <c:pt idx="5">
                  <c:v>16</c:v>
                </c:pt>
                <c:pt idx="6">
                  <c:v>24</c:v>
                </c:pt>
                <c:pt idx="7">
                  <c:v>48</c:v>
                </c:pt>
              </c:numCache>
            </c:numRef>
          </c:xVal>
          <c:yVal>
            <c:numRef>
              <c:f>'MPL5821-22'!$J$16:$J$23</c:f>
              <c:numCache>
                <c:formatCode>0.00</c:formatCode>
                <c:ptCount val="8"/>
                <c:pt idx="0">
                  <c:v>0</c:v>
                </c:pt>
                <c:pt idx="1">
                  <c:v>23.180531975099036</c:v>
                </c:pt>
                <c:pt idx="2">
                  <c:v>23.950198075834745</c:v>
                </c:pt>
                <c:pt idx="3">
                  <c:v>28.296547821165824</c:v>
                </c:pt>
                <c:pt idx="4">
                  <c:v>37.21561969439729</c:v>
                </c:pt>
                <c:pt idx="5">
                  <c:v>83.938879456706275</c:v>
                </c:pt>
                <c:pt idx="6">
                  <c:v>84.346349745331068</c:v>
                </c:pt>
                <c:pt idx="7">
                  <c:v>140.66779852857951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EAC-4DF4-BD91-FFA9D64949C5}"/>
            </c:ext>
          </c:extLst>
        </c:ser>
        <c:ser>
          <c:idx val="2"/>
          <c:order val="2"/>
          <c:tx>
            <c:strRef>
              <c:f>'MPL5821-22'!$A$25</c:f>
              <c:strCache>
                <c:ptCount val="1"/>
                <c:pt idx="0">
                  <c:v>Hut78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'MPL5821-22'!$K$26:$K$33</c:f>
              <c:numCache>
                <c:formatCode>0.0</c:formatCode>
                <c:ptCount val="8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3</c:v>
                </c:pt>
                <c:pt idx="4">
                  <c:v>8</c:v>
                </c:pt>
                <c:pt idx="5">
                  <c:v>16</c:v>
                </c:pt>
                <c:pt idx="6">
                  <c:v>24</c:v>
                </c:pt>
                <c:pt idx="7">
                  <c:v>48</c:v>
                </c:pt>
              </c:numCache>
            </c:numRef>
          </c:xVal>
          <c:yVal>
            <c:numRef>
              <c:f>'MPL5821-22'!$J$26:$J$33</c:f>
              <c:numCache>
                <c:formatCode>0.00</c:formatCode>
                <c:ptCount val="8"/>
                <c:pt idx="0">
                  <c:v>0</c:v>
                </c:pt>
                <c:pt idx="1">
                  <c:v>22.72778720996039</c:v>
                </c:pt>
                <c:pt idx="2">
                  <c:v>23.769100169779286</c:v>
                </c:pt>
                <c:pt idx="3">
                  <c:v>25.534804753820037</c:v>
                </c:pt>
                <c:pt idx="4">
                  <c:v>32.869269949066215</c:v>
                </c:pt>
                <c:pt idx="5">
                  <c:v>82.580645161290306</c:v>
                </c:pt>
                <c:pt idx="6">
                  <c:v>85.342388228636096</c:v>
                </c:pt>
                <c:pt idx="7">
                  <c:v>115.54046406338428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EAC-4DF4-BD91-FFA9D64949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639792"/>
        <c:axId val="-2101662640"/>
      </c:scatterChart>
      <c:valAx>
        <c:axId val="-2101639792"/>
        <c:scaling>
          <c:orientation val="minMax"/>
          <c:max val="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IN"/>
                  <a:t>Time points (h)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-2101662640"/>
        <c:crosses val="autoZero"/>
        <c:crossBetween val="midCat"/>
      </c:valAx>
      <c:valAx>
        <c:axId val="-2101662640"/>
        <c:scaling>
          <c:orientation val="minMax"/>
          <c:max val="12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IN" dirty="0"/>
                  <a:t>Acid Accumulation (µM)</a:t>
                </a:r>
              </a:p>
            </c:rich>
          </c:tx>
          <c:layout>
            <c:manualLayout>
              <c:xMode val="edge"/>
              <c:yMode val="edge"/>
              <c:x val="3.9867665044742234E-2"/>
              <c:y val="0.3120081398229009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-2101639792"/>
        <c:crosses val="autoZero"/>
        <c:crossBetween val="midCat"/>
        <c:majorUnit val="20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816633084325409"/>
          <c:y val="0.54556634615438371"/>
          <c:w val="0.16075368159247755"/>
          <c:h val="0.294761888388405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1400" b="1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image" Target="../media/image67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 cells in 40µL of growth media with</a:t>
          </a:r>
        </a:p>
        <a:p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; 250, 500 &amp; 1000 cells/well</a:t>
          </a:r>
          <a:r>
            <a:rPr lang="en-IN" sz="2000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Termination- Add equal volume of CTG </a:t>
          </a:r>
        </a:p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(50 µL), incubate at RT for 10 mins. Read</a:t>
          </a:r>
          <a:r>
            <a:rPr lang="en-US" sz="2000" b="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on Envision plate reader</a:t>
          </a:r>
          <a:r>
            <a:rPr lang="en-US" sz="20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Treat with 10 µL of 5X compound stock. Final DMSO - 0.5%  </a:t>
          </a: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3" custScaleX="200726" custScaleY="51610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2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3" custScaleX="200726" custScaleY="411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2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3" custScaleX="200726" custScaleY="589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 cells in 30µL of growth media; 1000 cells/well</a:t>
          </a:r>
          <a:r>
            <a:rPr lang="en-IN" sz="2000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Termination- Add 40 µl of 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HiBiT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lytic reagent </a:t>
          </a:r>
        </a:p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incubate at RT for 10 mins. Read</a:t>
          </a:r>
          <a:r>
            <a:rPr lang="en-US" sz="2000" b="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luminescence on VictorX5 plate reader</a:t>
          </a:r>
          <a:r>
            <a:rPr lang="en-US" sz="20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Treat with 10 µL of 4X compound stock.   </a:t>
          </a: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3" custScaleX="200726" custScaleY="51610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2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3" custScaleX="200726" custScaleY="411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2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3" custScaleX="200726" custScaleY="589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Day 1- </a:t>
          </a:r>
          <a:r>
            <a:rPr kumimoji="0" lang="en-IN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Cell density – 0.2 x 10</a:t>
          </a:r>
          <a:r>
            <a:rPr kumimoji="0" lang="en-IN" sz="2000" b="0" i="0" u="none" strike="noStrike" cap="none" spc="0" normalizeH="0" baseline="30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6</a:t>
          </a:r>
          <a:r>
            <a:rPr kumimoji="0" lang="en-IN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 /ml</a:t>
          </a:r>
        </a:p>
        <a:p>
          <a:pPr>
            <a:buClrTx/>
            <a:buSzTx/>
            <a:buFontTx/>
            <a:buNone/>
          </a:pPr>
          <a:r>
            <a:rPr kumimoji="0" lang="en-IN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Target Vector: Carrier DNA – 1:9</a:t>
          </a:r>
        </a:p>
        <a:p>
          <a:pPr>
            <a:buClrTx/>
            <a:buSzTx/>
            <a:buFontTx/>
            <a:buNone/>
          </a:pPr>
          <a:r>
            <a:rPr kumimoji="0" lang="en-IN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(Target Vector: Carrier DNA) : </a:t>
          </a:r>
          <a:r>
            <a:rPr kumimoji="0" lang="en-IN" sz="2000" b="0" i="0" u="none" strike="noStrike" cap="none" spc="0" normalizeH="0" baseline="0" noProof="0" dirty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FuGENE</a:t>
          </a:r>
          <a:r>
            <a:rPr kumimoji="0" lang="en-IN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 – 1:3</a:t>
          </a:r>
        </a:p>
        <a:p>
          <a:pPr>
            <a:buClrTx/>
            <a:buSzTx/>
            <a:buFontTx/>
            <a:buNone/>
          </a:pPr>
          <a:r>
            <a:rPr lang="en-IN" sz="2000" b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Seed transfected cells in 96 well solid white plate</a:t>
          </a:r>
          <a:endParaRPr lang="en-IN" sz="2000" b="1" dirty="0">
            <a:solidFill>
              <a:srgbClr val="FF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Add </a:t>
          </a:r>
          <a:r>
            <a:rPr lang="en-US" sz="2000" dirty="0" err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NanoBRET</a:t>
          </a:r>
          <a:r>
            <a: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 substrate</a:t>
          </a:r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Day 2: </a:t>
          </a:r>
          <a:r>
            <a:rPr kumimoji="0" lang="en-IN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Add Tracer + Test Compound </a:t>
          </a: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5CA2C-1D1E-4896-B372-1F062C17503A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Read plate in Envision Plate Reader</a:t>
          </a:r>
        </a:p>
        <a:p>
          <a:pPr>
            <a:buClrTx/>
            <a:buSzTx/>
            <a:buFontTx/>
            <a:buNone/>
          </a:pPr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Donor Emission – 460 nm; Acceptor Emission – 610 nm</a:t>
          </a:r>
        </a:p>
        <a:p>
          <a:pPr>
            <a:buClrTx/>
            <a:buSzTx/>
            <a:buFontTx/>
            <a:buNone/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 representation - </a:t>
          </a:r>
          <a:r>
            <a:rPr lang="en-IN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NanoBRET</a:t>
          </a: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Ratio (Acceptor/Donor)</a:t>
          </a:r>
        </a:p>
      </dgm:t>
    </dgm:pt>
    <dgm:pt modelId="{61C3774B-54F6-493A-9F48-2A456A8555AE}" type="parTrans" cxnId="{8710DF93-0DFF-4976-8D4D-1A86A336D82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4B46D-78CF-4B00-BE88-2203E759FF1D}" type="sibTrans" cxnId="{8710DF93-0DFF-4976-8D4D-1A86A336D82A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4" custScaleX="200726" custScaleY="139425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3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4" custScaleX="200726" custScaleY="588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3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4" custScaleX="200726" custScaleY="589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936AA-6D46-44E5-ADBA-9F543A1B427F}" type="pres">
      <dgm:prSet presAssocID="{24BD2FC0-24AA-4174-B1B7-2BB80DD49BC0}" presName="sibTrans" presStyleLbl="sibTrans2D1" presStyleIdx="2" presStyleCnt="3"/>
      <dgm:spPr/>
      <dgm:t>
        <a:bodyPr/>
        <a:lstStyle/>
        <a:p>
          <a:endParaRPr lang="en-US"/>
        </a:p>
      </dgm:t>
    </dgm:pt>
    <dgm:pt modelId="{07C608A4-D9CE-4FAA-B7BD-5804E66CAF7A}" type="pres">
      <dgm:prSet presAssocID="{24BD2FC0-24AA-4174-B1B7-2BB80DD49BC0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FF0E76F2-59B8-4BFD-8DB0-7B862CC0684B}" type="pres">
      <dgm:prSet presAssocID="{D4D5CA2C-1D1E-4896-B372-1F062C17503A}" presName="node" presStyleLbl="node1" presStyleIdx="3" presStyleCnt="4" custScaleX="200726" custScaleY="1034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93ACC4-AB33-43B4-8E91-6DA4FE20EAE6}" type="presOf" srcId="{24BD2FC0-24AA-4174-B1B7-2BB80DD49BC0}" destId="{07C608A4-D9CE-4FAA-B7BD-5804E66CAF7A}" srcOrd="1" destOrd="0" presId="urn:microsoft.com/office/officeart/2005/8/layout/process2"/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0C5F5BD2-9E69-4090-A661-8B91CB35F8E2}" type="presOf" srcId="{D4D5CA2C-1D1E-4896-B372-1F062C17503A}" destId="{FF0E76F2-59B8-4BFD-8DB0-7B862CC0684B}" srcOrd="0" destOrd="0" presId="urn:microsoft.com/office/officeart/2005/8/layout/process2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8710DF93-0DFF-4976-8D4D-1A86A336D82A}" srcId="{436570DF-6799-468D-BF07-CF1D82E09000}" destId="{D4D5CA2C-1D1E-4896-B372-1F062C17503A}" srcOrd="3" destOrd="0" parTransId="{61C3774B-54F6-493A-9F48-2A456A8555AE}" sibTransId="{90E4B46D-78CF-4B00-BE88-2203E759FF1D}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C13C27AA-F327-43AF-9CA4-787DEF64E9D7}" type="presOf" srcId="{24BD2FC0-24AA-4174-B1B7-2BB80DD49BC0}" destId="{634936AA-6D46-44E5-ADBA-9F543A1B427F}" srcOrd="0" destOrd="0" presId="urn:microsoft.com/office/officeart/2005/8/layout/process2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  <dgm:cxn modelId="{48D39D94-89CB-4B4D-B2D5-9390749BABB9}" type="presParOf" srcId="{08E95E31-B231-439F-95AC-C526F6360306}" destId="{634936AA-6D46-44E5-ADBA-9F543A1B427F}" srcOrd="5" destOrd="0" presId="urn:microsoft.com/office/officeart/2005/8/layout/process2"/>
    <dgm:cxn modelId="{F67E0637-5E4F-49C0-BE3C-28B847CAD610}" type="presParOf" srcId="{634936AA-6D46-44E5-ADBA-9F543A1B427F}" destId="{07C608A4-D9CE-4FAA-B7BD-5804E66CAF7A}" srcOrd="0" destOrd="0" presId="urn:microsoft.com/office/officeart/2005/8/layout/process2"/>
    <dgm:cxn modelId="{DD2FCBE9-0E89-4C22-8F9D-53C30E8FF0C4}" type="presParOf" srcId="{08E95E31-B231-439F-95AC-C526F6360306}" destId="{FF0E76F2-59B8-4BFD-8DB0-7B862CC0684B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ClrTx/>
            <a:buSzTx/>
            <a:buFontTx/>
            <a:buNone/>
          </a:pP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smBiT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plasmid (10 µg) and 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lgBiT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plasmid (10 µg) were mixed in 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OptiMEM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medium (1000 µL) followed by addition of 60 ul of 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Fugene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HD Transfection. </a:t>
          </a:r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Add 2.5 ul of neddylation inhibitor (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MLN4924)</a:t>
          </a:r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Add HEK293 cells to the transfection mixture at the density </a:t>
          </a: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of 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10 million per 10 mL</a:t>
          </a: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. Seed 18.5 ul per well in 384 white plate.</a:t>
          </a:r>
          <a:endParaRPr kumimoji="0" lang="en-IN" sz="2000" b="0" i="0" u="none" strike="noStrike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  <a:sym typeface="Helvetica Neue"/>
          </a:endParaRP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5CA2C-1D1E-4896-B372-1F062C17503A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Add 3 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µ</a:t>
          </a:r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l of  test compound and 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6 µL of 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NanoBiT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substrate and measure luminescence in Envision plate reader after 30 mins</a:t>
          </a:r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 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C3774B-54F6-493A-9F48-2A456A8555AE}" type="parTrans" cxnId="{8710DF93-0DFF-4976-8D4D-1A86A336D82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4B46D-78CF-4B00-BE88-2203E759FF1D}" type="sibTrans" cxnId="{8710DF93-0DFF-4976-8D4D-1A86A336D82A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4" custScaleX="200726" custScaleY="86460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3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4" custScaleX="200726" custScaleY="804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3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4" custScaleX="200726" custScaleY="58916" custLinFactNeighborX="-31483" custLinFactNeighborY="-40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936AA-6D46-44E5-ADBA-9F543A1B427F}" type="pres">
      <dgm:prSet presAssocID="{24BD2FC0-24AA-4174-B1B7-2BB80DD49BC0}" presName="sibTrans" presStyleLbl="sibTrans2D1" presStyleIdx="2" presStyleCnt="3"/>
      <dgm:spPr/>
      <dgm:t>
        <a:bodyPr/>
        <a:lstStyle/>
        <a:p>
          <a:endParaRPr lang="en-US"/>
        </a:p>
      </dgm:t>
    </dgm:pt>
    <dgm:pt modelId="{07C608A4-D9CE-4FAA-B7BD-5804E66CAF7A}" type="pres">
      <dgm:prSet presAssocID="{24BD2FC0-24AA-4174-B1B7-2BB80DD49BC0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FF0E76F2-59B8-4BFD-8DB0-7B862CC0684B}" type="pres">
      <dgm:prSet presAssocID="{D4D5CA2C-1D1E-4896-B372-1F062C17503A}" presName="node" presStyleLbl="node1" presStyleIdx="3" presStyleCnt="4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93ACC4-AB33-43B4-8E91-6DA4FE20EAE6}" type="presOf" srcId="{24BD2FC0-24AA-4174-B1B7-2BB80DD49BC0}" destId="{07C608A4-D9CE-4FAA-B7BD-5804E66CAF7A}" srcOrd="1" destOrd="0" presId="urn:microsoft.com/office/officeart/2005/8/layout/process2"/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0C5F5BD2-9E69-4090-A661-8B91CB35F8E2}" type="presOf" srcId="{D4D5CA2C-1D1E-4896-B372-1F062C17503A}" destId="{FF0E76F2-59B8-4BFD-8DB0-7B862CC0684B}" srcOrd="0" destOrd="0" presId="urn:microsoft.com/office/officeart/2005/8/layout/process2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8710DF93-0DFF-4976-8D4D-1A86A336D82A}" srcId="{436570DF-6799-468D-BF07-CF1D82E09000}" destId="{D4D5CA2C-1D1E-4896-B372-1F062C17503A}" srcOrd="3" destOrd="0" parTransId="{61C3774B-54F6-493A-9F48-2A456A8555AE}" sibTransId="{90E4B46D-78CF-4B00-BE88-2203E759FF1D}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C13C27AA-F327-43AF-9CA4-787DEF64E9D7}" type="presOf" srcId="{24BD2FC0-24AA-4174-B1B7-2BB80DD49BC0}" destId="{634936AA-6D46-44E5-ADBA-9F543A1B427F}" srcOrd="0" destOrd="0" presId="urn:microsoft.com/office/officeart/2005/8/layout/process2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  <dgm:cxn modelId="{48D39D94-89CB-4B4D-B2D5-9390749BABB9}" type="presParOf" srcId="{08E95E31-B231-439F-95AC-C526F6360306}" destId="{634936AA-6D46-44E5-ADBA-9F543A1B427F}" srcOrd="5" destOrd="0" presId="urn:microsoft.com/office/officeart/2005/8/layout/process2"/>
    <dgm:cxn modelId="{F67E0637-5E4F-49C0-BE3C-28B847CAD610}" type="presParOf" srcId="{634936AA-6D46-44E5-ADBA-9F543A1B427F}" destId="{07C608A4-D9CE-4FAA-B7BD-5804E66CAF7A}" srcOrd="0" destOrd="0" presId="urn:microsoft.com/office/officeart/2005/8/layout/process2"/>
    <dgm:cxn modelId="{DD2FCBE9-0E89-4C22-8F9D-53C30E8FF0C4}" type="presParOf" srcId="{08E95E31-B231-439F-95AC-C526F6360306}" destId="{FF0E76F2-59B8-4BFD-8DB0-7B862CC0684B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ClrTx/>
            <a:buSzTx/>
            <a:buFontTx/>
            <a:buNone/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 6</a:t>
          </a:r>
          <a:r>
            <a:rPr lang="en-US" sz="2000" b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 X 10</a:t>
          </a:r>
          <a:r>
            <a:rPr lang="en-US" sz="2000" b="0" u="none" strike="noStrike" baseline="300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4</a:t>
          </a:r>
          <a:r>
            <a:rPr lang="en-US" sz="2000" b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THP1-HMGB1-Lucia cells in 96 well plate</a:t>
          </a: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Helvetica Neue"/>
            </a:rPr>
            <a:t>Add 100 ng/mL </a:t>
          </a:r>
          <a:r>
            <a:rPr lang="en-US" sz="2000" b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of </a:t>
          </a:r>
          <a:r>
            <a:rPr lang="en-US" sz="2000" b="0" dirty="0">
              <a:solidFill>
                <a:schemeClr val="tx1"/>
              </a:solidFill>
              <a:latin typeface="Helvetica Neue"/>
            </a:rPr>
            <a:t>TNF</a:t>
          </a:r>
          <a:r>
            <a:rPr lang="el-GR" sz="2000" b="0" dirty="0">
              <a:solidFill>
                <a:schemeClr val="tx1"/>
              </a:solidFill>
              <a:latin typeface="Helvetica Neue"/>
            </a:rPr>
            <a:t>α</a:t>
          </a:r>
          <a:r>
            <a:rPr lang="en-IN" sz="2000" b="0" dirty="0">
              <a:solidFill>
                <a:schemeClr val="tx1"/>
              </a:solidFill>
              <a:latin typeface="Helvetica Neue"/>
            </a:rPr>
            <a:t>, </a:t>
          </a:r>
          <a:r>
            <a:rPr lang="en-US" sz="2000" b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5 µM of </a:t>
          </a:r>
          <a:r>
            <a:rPr lang="en-IN" sz="2000" b="0" dirty="0">
              <a:solidFill>
                <a:schemeClr val="tx1"/>
              </a:solidFill>
              <a:latin typeface="Helvetica Neue"/>
            </a:rPr>
            <a:t>BV-6 and inhibitor compounds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Helvetica Neue"/>
            </a:rPr>
            <a:t>Add pan-caspase inhibitor, </a:t>
          </a:r>
          <a:r>
            <a:rPr lang="en-US" sz="2000" b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25 µM</a:t>
          </a:r>
          <a:r>
            <a:rPr lang="en-US" sz="2000" b="0" dirty="0">
              <a:solidFill>
                <a:schemeClr val="tx1"/>
              </a:solidFill>
              <a:latin typeface="Helvetica Neue"/>
            </a:rPr>
            <a:t>  of </a:t>
          </a:r>
          <a:r>
            <a:rPr lang="en-US" sz="2000" b="0" dirty="0" err="1">
              <a:solidFill>
                <a:schemeClr val="tx1"/>
              </a:solidFill>
              <a:latin typeface="Helvetica Neue"/>
            </a:rPr>
            <a:t>Zvad</a:t>
          </a:r>
          <a:r>
            <a:rPr lang="en-US" sz="2000" b="0" dirty="0">
              <a:solidFill>
                <a:schemeClr val="tx1"/>
              </a:solidFill>
              <a:latin typeface="Helvetica Neue"/>
            </a:rPr>
            <a:t>-FMK for 1 </a:t>
          </a:r>
          <a:r>
            <a:rPr lang="en-US" sz="2000" b="0" dirty="0" err="1">
              <a:solidFill>
                <a:schemeClr val="tx1"/>
              </a:solidFill>
              <a:latin typeface="Helvetica Neue"/>
            </a:rPr>
            <a:t>hr</a:t>
          </a:r>
          <a:r>
            <a:rPr lang="en-US" sz="2000" b="0" dirty="0">
              <a:solidFill>
                <a:schemeClr val="tx1"/>
              </a:solidFill>
              <a:latin typeface="Helvetica Neue"/>
            </a:rPr>
            <a:t> at 37</a:t>
          </a:r>
          <a:r>
            <a:rPr lang="en-US" sz="2000" b="0" baseline="30000" dirty="0">
              <a:solidFill>
                <a:schemeClr val="tx1"/>
              </a:solidFill>
              <a:latin typeface="Helvetica Neue"/>
            </a:rPr>
            <a:t>0</a:t>
          </a:r>
          <a:r>
            <a:rPr lang="en-US" sz="2000" b="0" dirty="0">
              <a:solidFill>
                <a:schemeClr val="tx1"/>
              </a:solidFill>
              <a:latin typeface="Helvetica Neue"/>
            </a:rPr>
            <a:t>C, 5% CO</a:t>
          </a:r>
          <a:r>
            <a:rPr lang="en-US" sz="2000" b="0" baseline="-25000" dirty="0">
              <a:solidFill>
                <a:schemeClr val="tx1"/>
              </a:solidFill>
              <a:latin typeface="Helvetica Neue"/>
            </a:rPr>
            <a:t>2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kumimoji="0" lang="en-IN" sz="2000" b="0" i="0" u="none" strike="noStrike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  <a:sym typeface="Helvetica Neue"/>
          </a:endParaRP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5CA2C-1D1E-4896-B372-1F062C17503A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Helvetica Neue"/>
            </a:rPr>
            <a:t>Collect 30 µl of cell culture supernatant  in 96 well Opti-plate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C3774B-54F6-493A-9F48-2A456A8555AE}" type="parTrans" cxnId="{8710DF93-0DFF-4976-8D4D-1A86A336D82A}">
      <dgm:prSet/>
      <dgm:spPr/>
      <dgm:t>
        <a:bodyPr/>
        <a:lstStyle/>
        <a:p>
          <a:endParaRPr lang="en-US" sz="20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4B46D-78CF-4B00-BE88-2203E759FF1D}" type="sibTrans" cxnId="{8710DF93-0DFF-4976-8D4D-1A86A336D82A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 sz="20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6A783D-BCD8-4715-89E1-E6C68BF688EE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Helvetica Neue"/>
            </a:rPr>
            <a:t>Add 150 µl </a:t>
          </a:r>
          <a:r>
            <a:rPr lang="en-US" sz="2000" b="0" dirty="0" err="1">
              <a:solidFill>
                <a:schemeClr val="tx1"/>
              </a:solidFill>
              <a:latin typeface="Helvetica Neue"/>
            </a:rPr>
            <a:t>Quanti</a:t>
          </a:r>
          <a:r>
            <a:rPr lang="en-US" sz="2000" b="0" dirty="0">
              <a:solidFill>
                <a:schemeClr val="tx1"/>
              </a:solidFill>
              <a:latin typeface="Helvetica Neue"/>
            </a:rPr>
            <a:t>-Luc substrate, mix and measure luminescence in Envision plate reader </a:t>
          </a:r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C03248-059E-40DC-92E4-A899802FFC91}" type="parTrans" cxnId="{B223BF1D-E8B3-4C7C-A15E-48CD6B5FF83A}">
      <dgm:prSet/>
      <dgm:spPr/>
      <dgm:t>
        <a:bodyPr/>
        <a:lstStyle/>
        <a:p>
          <a:endParaRPr lang="en-US" sz="2000" b="0"/>
        </a:p>
      </dgm:t>
    </dgm:pt>
    <dgm:pt modelId="{941C4D91-F836-4C4B-A71D-B99A8B3300EB}" type="sibTrans" cxnId="{B223BF1D-E8B3-4C7C-A15E-48CD6B5FF83A}">
      <dgm:prSet/>
      <dgm:spPr/>
      <dgm:t>
        <a:bodyPr/>
        <a:lstStyle/>
        <a:p>
          <a:endParaRPr lang="en-US" sz="2000" b="0"/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5" custScaleX="200726" custScaleY="46353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4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5" custScaleX="200726" custScaleY="804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4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5" custScaleX="200726" custScaleY="58916" custLinFactNeighborX="-31483" custLinFactNeighborY="-40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936AA-6D46-44E5-ADBA-9F543A1B427F}" type="pres">
      <dgm:prSet presAssocID="{24BD2FC0-24AA-4174-B1B7-2BB80DD49BC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07C608A4-D9CE-4FAA-B7BD-5804E66CAF7A}" type="pres">
      <dgm:prSet presAssocID="{24BD2FC0-24AA-4174-B1B7-2BB80DD49BC0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FF0E76F2-59B8-4BFD-8DB0-7B862CC0684B}" type="pres">
      <dgm:prSet presAssocID="{D4D5CA2C-1D1E-4896-B372-1F062C17503A}" presName="node" presStyleLbl="node1" presStyleIdx="3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720768-7C85-4352-B217-09E3DCC98569}" type="pres">
      <dgm:prSet presAssocID="{90E4B46D-78CF-4B00-BE88-2203E759FF1D}" presName="sibTrans" presStyleLbl="sibTrans2D1" presStyleIdx="3" presStyleCnt="4"/>
      <dgm:spPr/>
      <dgm:t>
        <a:bodyPr/>
        <a:lstStyle/>
        <a:p>
          <a:endParaRPr lang="en-US"/>
        </a:p>
      </dgm:t>
    </dgm:pt>
    <dgm:pt modelId="{79E5516B-EC07-4B6A-8DD2-5DEF19274A93}" type="pres">
      <dgm:prSet presAssocID="{90E4B46D-78CF-4B00-BE88-2203E759FF1D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C89E2556-8A97-4D1C-A4EC-D7BF2EA186FD}" type="pres">
      <dgm:prSet presAssocID="{B86A783D-BCD8-4715-89E1-E6C68BF688EE}" presName="node" presStyleLbl="node1" presStyleIdx="4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93ACC4-AB33-43B4-8E91-6DA4FE20EAE6}" type="presOf" srcId="{24BD2FC0-24AA-4174-B1B7-2BB80DD49BC0}" destId="{07C608A4-D9CE-4FAA-B7BD-5804E66CAF7A}" srcOrd="1" destOrd="0" presId="urn:microsoft.com/office/officeart/2005/8/layout/process2"/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9BA84CD3-E853-4B4A-B52A-C442CA62259D}" type="presOf" srcId="{90E4B46D-78CF-4B00-BE88-2203E759FF1D}" destId="{48720768-7C85-4352-B217-09E3DCC98569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0C5F5BD2-9E69-4090-A661-8B91CB35F8E2}" type="presOf" srcId="{D4D5CA2C-1D1E-4896-B372-1F062C17503A}" destId="{FF0E76F2-59B8-4BFD-8DB0-7B862CC0684B}" srcOrd="0" destOrd="0" presId="urn:microsoft.com/office/officeart/2005/8/layout/process2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8710DF93-0DFF-4976-8D4D-1A86A336D82A}" srcId="{436570DF-6799-468D-BF07-CF1D82E09000}" destId="{D4D5CA2C-1D1E-4896-B372-1F062C17503A}" srcOrd="3" destOrd="0" parTransId="{61C3774B-54F6-493A-9F48-2A456A8555AE}" sibTransId="{90E4B46D-78CF-4B00-BE88-2203E759FF1D}"/>
    <dgm:cxn modelId="{DA475BCA-482A-48A9-9900-1C3229774F41}" type="presOf" srcId="{90E4B46D-78CF-4B00-BE88-2203E759FF1D}" destId="{79E5516B-EC07-4B6A-8DD2-5DEF19274A93}" srcOrd="1" destOrd="0" presId="urn:microsoft.com/office/officeart/2005/8/layout/process2"/>
    <dgm:cxn modelId="{1302FC46-4C1E-49B9-8411-BB8F6A3FF1D3}" type="presOf" srcId="{B86A783D-BCD8-4715-89E1-E6C68BF688EE}" destId="{C89E2556-8A97-4D1C-A4EC-D7BF2EA186FD}" srcOrd="0" destOrd="0" presId="urn:microsoft.com/office/officeart/2005/8/layout/process2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C13C27AA-F327-43AF-9CA4-787DEF64E9D7}" type="presOf" srcId="{24BD2FC0-24AA-4174-B1B7-2BB80DD49BC0}" destId="{634936AA-6D46-44E5-ADBA-9F543A1B427F}" srcOrd="0" destOrd="0" presId="urn:microsoft.com/office/officeart/2005/8/layout/process2"/>
    <dgm:cxn modelId="{B223BF1D-E8B3-4C7C-A15E-48CD6B5FF83A}" srcId="{436570DF-6799-468D-BF07-CF1D82E09000}" destId="{B86A783D-BCD8-4715-89E1-E6C68BF688EE}" srcOrd="4" destOrd="0" parTransId="{DBC03248-059E-40DC-92E4-A899802FFC91}" sibTransId="{941C4D91-F836-4C4B-A71D-B99A8B3300EB}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  <dgm:cxn modelId="{48D39D94-89CB-4B4D-B2D5-9390749BABB9}" type="presParOf" srcId="{08E95E31-B231-439F-95AC-C526F6360306}" destId="{634936AA-6D46-44E5-ADBA-9F543A1B427F}" srcOrd="5" destOrd="0" presId="urn:microsoft.com/office/officeart/2005/8/layout/process2"/>
    <dgm:cxn modelId="{F67E0637-5E4F-49C0-BE3C-28B847CAD610}" type="presParOf" srcId="{634936AA-6D46-44E5-ADBA-9F543A1B427F}" destId="{07C608A4-D9CE-4FAA-B7BD-5804E66CAF7A}" srcOrd="0" destOrd="0" presId="urn:microsoft.com/office/officeart/2005/8/layout/process2"/>
    <dgm:cxn modelId="{DD2FCBE9-0E89-4C22-8F9D-53C30E8FF0C4}" type="presParOf" srcId="{08E95E31-B231-439F-95AC-C526F6360306}" destId="{FF0E76F2-59B8-4BFD-8DB0-7B862CC0684B}" srcOrd="6" destOrd="0" presId="urn:microsoft.com/office/officeart/2005/8/layout/process2"/>
    <dgm:cxn modelId="{F42C4B70-74F6-4861-AC2A-505A6B287CC6}" type="presParOf" srcId="{08E95E31-B231-439F-95AC-C526F6360306}" destId="{48720768-7C85-4352-B217-09E3DCC98569}" srcOrd="7" destOrd="0" presId="urn:microsoft.com/office/officeart/2005/8/layout/process2"/>
    <dgm:cxn modelId="{FCFBF4D8-334A-43F2-BE33-2E18DAD70956}" type="presParOf" srcId="{48720768-7C85-4352-B217-09E3DCC98569}" destId="{79E5516B-EC07-4B6A-8DD2-5DEF19274A93}" srcOrd="0" destOrd="0" presId="urn:microsoft.com/office/officeart/2005/8/layout/process2"/>
    <dgm:cxn modelId="{9B0E61E1-FDF2-45E6-BB4B-B910666AE62B}" type="presParOf" srcId="{08E95E31-B231-439F-95AC-C526F6360306}" destId="{C89E2556-8A97-4D1C-A4EC-D7BF2EA186F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ClrTx/>
            <a:buSzTx/>
            <a:buFontTx/>
            <a:buNone/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1: : Seeding of cell lines</a:t>
          </a:r>
        </a:p>
        <a:p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384 well plate (8000 cells/well) </a:t>
          </a: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Add Lysis Buffer 8 µL of 4X stock</a:t>
          </a: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2: Compound Treatment</a:t>
          </a:r>
        </a:p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(11 points 3 folds – Top Conc – 3 µM) </a:t>
          </a: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5CA2C-1D1E-4896-B372-1F062C17503A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Transfer 16 ul of sample to 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proxiplate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Add 4 ul of antibody mix (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pERK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Eu cryptate + </a:t>
          </a:r>
          <a:r>
            <a:rPr lang="en-US" sz="2000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pERK</a:t>
          </a:r>
          <a:r>
            <a:rPr lang="en-US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d2 antibody)</a:t>
          </a:r>
        </a:p>
      </dgm:t>
    </dgm:pt>
    <dgm:pt modelId="{61C3774B-54F6-493A-9F48-2A456A8555AE}" type="parTrans" cxnId="{8710DF93-0DFF-4976-8D4D-1A86A336D82A}">
      <dgm:prSet/>
      <dgm:spPr/>
      <dgm:t>
        <a:bodyPr/>
        <a:lstStyle/>
        <a:p>
          <a:endParaRPr lang="en-US" sz="20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4B46D-78CF-4B00-BE88-2203E759FF1D}" type="sibTrans" cxnId="{8710DF93-0DFF-4976-8D4D-1A86A336D82A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 sz="20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6A783D-BCD8-4715-89E1-E6C68BF688EE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Reading at  EX-340 nm; EM – 620 nm, 665 nm</a:t>
          </a:r>
        </a:p>
      </dgm:t>
    </dgm:pt>
    <dgm:pt modelId="{DBC03248-059E-40DC-92E4-A899802FFC91}" type="parTrans" cxnId="{B223BF1D-E8B3-4C7C-A15E-48CD6B5FF83A}">
      <dgm:prSet/>
      <dgm:spPr/>
      <dgm:t>
        <a:bodyPr/>
        <a:lstStyle/>
        <a:p>
          <a:endParaRPr lang="en-US" sz="2000" b="0"/>
        </a:p>
      </dgm:t>
    </dgm:pt>
    <dgm:pt modelId="{941C4D91-F836-4C4B-A71D-B99A8B3300EB}" type="sibTrans" cxnId="{B223BF1D-E8B3-4C7C-A15E-48CD6B5FF83A}">
      <dgm:prSet/>
      <dgm:spPr/>
      <dgm:t>
        <a:bodyPr/>
        <a:lstStyle/>
        <a:p>
          <a:endParaRPr lang="en-US" sz="2000" b="0"/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5" custScaleX="200726" custScaleY="46353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4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5" custScaleX="200726" custScaleY="617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4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5" custScaleX="200726" custScaleY="58916" custLinFactNeighborX="-31483" custLinFactNeighborY="-40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936AA-6D46-44E5-ADBA-9F543A1B427F}" type="pres">
      <dgm:prSet presAssocID="{24BD2FC0-24AA-4174-B1B7-2BB80DD49BC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07C608A4-D9CE-4FAA-B7BD-5804E66CAF7A}" type="pres">
      <dgm:prSet presAssocID="{24BD2FC0-24AA-4174-B1B7-2BB80DD49BC0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FF0E76F2-59B8-4BFD-8DB0-7B862CC0684B}" type="pres">
      <dgm:prSet presAssocID="{D4D5CA2C-1D1E-4896-B372-1F062C17503A}" presName="node" presStyleLbl="node1" presStyleIdx="3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720768-7C85-4352-B217-09E3DCC98569}" type="pres">
      <dgm:prSet presAssocID="{90E4B46D-78CF-4B00-BE88-2203E759FF1D}" presName="sibTrans" presStyleLbl="sibTrans2D1" presStyleIdx="3" presStyleCnt="4"/>
      <dgm:spPr/>
      <dgm:t>
        <a:bodyPr/>
        <a:lstStyle/>
        <a:p>
          <a:endParaRPr lang="en-US"/>
        </a:p>
      </dgm:t>
    </dgm:pt>
    <dgm:pt modelId="{79E5516B-EC07-4B6A-8DD2-5DEF19274A93}" type="pres">
      <dgm:prSet presAssocID="{90E4B46D-78CF-4B00-BE88-2203E759FF1D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C89E2556-8A97-4D1C-A4EC-D7BF2EA186FD}" type="pres">
      <dgm:prSet presAssocID="{B86A783D-BCD8-4715-89E1-E6C68BF688EE}" presName="node" presStyleLbl="node1" presStyleIdx="4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93ACC4-AB33-43B4-8E91-6DA4FE20EAE6}" type="presOf" srcId="{24BD2FC0-24AA-4174-B1B7-2BB80DD49BC0}" destId="{07C608A4-D9CE-4FAA-B7BD-5804E66CAF7A}" srcOrd="1" destOrd="0" presId="urn:microsoft.com/office/officeart/2005/8/layout/process2"/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9BA84CD3-E853-4B4A-B52A-C442CA62259D}" type="presOf" srcId="{90E4B46D-78CF-4B00-BE88-2203E759FF1D}" destId="{48720768-7C85-4352-B217-09E3DCC98569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0C5F5BD2-9E69-4090-A661-8B91CB35F8E2}" type="presOf" srcId="{D4D5CA2C-1D1E-4896-B372-1F062C17503A}" destId="{FF0E76F2-59B8-4BFD-8DB0-7B862CC0684B}" srcOrd="0" destOrd="0" presId="urn:microsoft.com/office/officeart/2005/8/layout/process2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8710DF93-0DFF-4976-8D4D-1A86A336D82A}" srcId="{436570DF-6799-468D-BF07-CF1D82E09000}" destId="{D4D5CA2C-1D1E-4896-B372-1F062C17503A}" srcOrd="3" destOrd="0" parTransId="{61C3774B-54F6-493A-9F48-2A456A8555AE}" sibTransId="{90E4B46D-78CF-4B00-BE88-2203E759FF1D}"/>
    <dgm:cxn modelId="{DA475BCA-482A-48A9-9900-1C3229774F41}" type="presOf" srcId="{90E4B46D-78CF-4B00-BE88-2203E759FF1D}" destId="{79E5516B-EC07-4B6A-8DD2-5DEF19274A93}" srcOrd="1" destOrd="0" presId="urn:microsoft.com/office/officeart/2005/8/layout/process2"/>
    <dgm:cxn modelId="{1302FC46-4C1E-49B9-8411-BB8F6A3FF1D3}" type="presOf" srcId="{B86A783D-BCD8-4715-89E1-E6C68BF688EE}" destId="{C89E2556-8A97-4D1C-A4EC-D7BF2EA186FD}" srcOrd="0" destOrd="0" presId="urn:microsoft.com/office/officeart/2005/8/layout/process2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C13C27AA-F327-43AF-9CA4-787DEF64E9D7}" type="presOf" srcId="{24BD2FC0-24AA-4174-B1B7-2BB80DD49BC0}" destId="{634936AA-6D46-44E5-ADBA-9F543A1B427F}" srcOrd="0" destOrd="0" presId="urn:microsoft.com/office/officeart/2005/8/layout/process2"/>
    <dgm:cxn modelId="{B223BF1D-E8B3-4C7C-A15E-48CD6B5FF83A}" srcId="{436570DF-6799-468D-BF07-CF1D82E09000}" destId="{B86A783D-BCD8-4715-89E1-E6C68BF688EE}" srcOrd="4" destOrd="0" parTransId="{DBC03248-059E-40DC-92E4-A899802FFC91}" sibTransId="{941C4D91-F836-4C4B-A71D-B99A8B3300EB}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  <dgm:cxn modelId="{48D39D94-89CB-4B4D-B2D5-9390749BABB9}" type="presParOf" srcId="{08E95E31-B231-439F-95AC-C526F6360306}" destId="{634936AA-6D46-44E5-ADBA-9F543A1B427F}" srcOrd="5" destOrd="0" presId="urn:microsoft.com/office/officeart/2005/8/layout/process2"/>
    <dgm:cxn modelId="{F67E0637-5E4F-49C0-BE3C-28B847CAD610}" type="presParOf" srcId="{634936AA-6D46-44E5-ADBA-9F543A1B427F}" destId="{07C608A4-D9CE-4FAA-B7BD-5804E66CAF7A}" srcOrd="0" destOrd="0" presId="urn:microsoft.com/office/officeart/2005/8/layout/process2"/>
    <dgm:cxn modelId="{DD2FCBE9-0E89-4C22-8F9D-53C30E8FF0C4}" type="presParOf" srcId="{08E95E31-B231-439F-95AC-C526F6360306}" destId="{FF0E76F2-59B8-4BFD-8DB0-7B862CC0684B}" srcOrd="6" destOrd="0" presId="urn:microsoft.com/office/officeart/2005/8/layout/process2"/>
    <dgm:cxn modelId="{F42C4B70-74F6-4861-AC2A-505A6B287CC6}" type="presParOf" srcId="{08E95E31-B231-439F-95AC-C526F6360306}" destId="{48720768-7C85-4352-B217-09E3DCC98569}" srcOrd="7" destOrd="0" presId="urn:microsoft.com/office/officeart/2005/8/layout/process2"/>
    <dgm:cxn modelId="{FCFBF4D8-334A-43F2-BE33-2E18DAD70956}" type="presParOf" srcId="{48720768-7C85-4352-B217-09E3DCC98569}" destId="{79E5516B-EC07-4B6A-8DD2-5DEF19274A93}" srcOrd="0" destOrd="0" presId="urn:microsoft.com/office/officeart/2005/8/layout/process2"/>
    <dgm:cxn modelId="{9B0E61E1-FDF2-45E6-BB4B-B910666AE62B}" type="presParOf" srcId="{08E95E31-B231-439F-95AC-C526F6360306}" destId="{C89E2556-8A97-4D1C-A4EC-D7BF2EA186F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>
            <a:buClrTx/>
            <a:buSzTx/>
            <a:buFontTx/>
            <a:buNone/>
          </a:pPr>
          <a:r>
            <a:rPr lang="en-IN" sz="2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1: : Cells are thawed and plated in 96 well plate (100 ul/well).</a:t>
          </a: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0" i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Add cAMP antibody  reagent and cAMP working detection solution</a:t>
          </a:r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0" i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2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2: Add cell assay buffer (30 ul) and treat with test compounds (15 ul) </a:t>
          </a: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0" i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5CA2C-1D1E-4896-B372-1F062C17503A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Add 60 </a:t>
          </a:r>
          <a:r>
            <a:rPr kumimoji="0" lang="en-US" sz="2000" b="0" i="0" u="none" strike="noStrike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uL</a:t>
          </a:r>
          <a:r>
            <a:rPr kumimoji="0" lang="en-US" sz="20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 cAMP solution A</a:t>
          </a:r>
          <a:endParaRPr lang="en-US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C3774B-54F6-493A-9F48-2A456A8555AE}" type="parTrans" cxnId="{8710DF93-0DFF-4976-8D4D-1A86A336D82A}">
      <dgm:prSet/>
      <dgm:spPr/>
      <dgm:t>
        <a:bodyPr/>
        <a:lstStyle/>
        <a:p>
          <a:endParaRPr lang="en-US" sz="2000" b="0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4B46D-78CF-4B00-BE88-2203E759FF1D}" type="sibTrans" cxnId="{8710DF93-0DFF-4976-8D4D-1A86A336D82A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 sz="2000" b="0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6A783D-BCD8-4715-89E1-E6C68BF688EE}">
      <dgm:prSet phldrT="[Text]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IN" sz="2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Reading chemiluminescence in Envision plate reader</a:t>
          </a:r>
        </a:p>
      </dgm:t>
    </dgm:pt>
    <dgm:pt modelId="{DBC03248-059E-40DC-92E4-A899802FFC91}" type="parTrans" cxnId="{B223BF1D-E8B3-4C7C-A15E-48CD6B5FF83A}">
      <dgm:prSet/>
      <dgm:spPr/>
      <dgm:t>
        <a:bodyPr/>
        <a:lstStyle/>
        <a:p>
          <a:endParaRPr lang="en-US" sz="2000" b="0" i="0"/>
        </a:p>
      </dgm:t>
    </dgm:pt>
    <dgm:pt modelId="{941C4D91-F836-4C4B-A71D-B99A8B3300EB}" type="sibTrans" cxnId="{B223BF1D-E8B3-4C7C-A15E-48CD6B5FF83A}">
      <dgm:prSet/>
      <dgm:spPr/>
      <dgm:t>
        <a:bodyPr/>
        <a:lstStyle/>
        <a:p>
          <a:endParaRPr lang="en-US" sz="2000" b="0" i="0"/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5" custScaleX="200726" custScaleY="46353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4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5" custScaleX="200726" custScaleY="617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4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5" custScaleX="200726" custScaleY="58916" custLinFactNeighborX="-31483" custLinFactNeighborY="-40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936AA-6D46-44E5-ADBA-9F543A1B427F}" type="pres">
      <dgm:prSet presAssocID="{24BD2FC0-24AA-4174-B1B7-2BB80DD49BC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07C608A4-D9CE-4FAA-B7BD-5804E66CAF7A}" type="pres">
      <dgm:prSet presAssocID="{24BD2FC0-24AA-4174-B1B7-2BB80DD49BC0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FF0E76F2-59B8-4BFD-8DB0-7B862CC0684B}" type="pres">
      <dgm:prSet presAssocID="{D4D5CA2C-1D1E-4896-B372-1F062C17503A}" presName="node" presStyleLbl="node1" presStyleIdx="3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720768-7C85-4352-B217-09E3DCC98569}" type="pres">
      <dgm:prSet presAssocID="{90E4B46D-78CF-4B00-BE88-2203E759FF1D}" presName="sibTrans" presStyleLbl="sibTrans2D1" presStyleIdx="3" presStyleCnt="4"/>
      <dgm:spPr/>
      <dgm:t>
        <a:bodyPr/>
        <a:lstStyle/>
        <a:p>
          <a:endParaRPr lang="en-US"/>
        </a:p>
      </dgm:t>
    </dgm:pt>
    <dgm:pt modelId="{79E5516B-EC07-4B6A-8DD2-5DEF19274A93}" type="pres">
      <dgm:prSet presAssocID="{90E4B46D-78CF-4B00-BE88-2203E759FF1D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C89E2556-8A97-4D1C-A4EC-D7BF2EA186FD}" type="pres">
      <dgm:prSet presAssocID="{B86A783D-BCD8-4715-89E1-E6C68BF688EE}" presName="node" presStyleLbl="node1" presStyleIdx="4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93ACC4-AB33-43B4-8E91-6DA4FE20EAE6}" type="presOf" srcId="{24BD2FC0-24AA-4174-B1B7-2BB80DD49BC0}" destId="{07C608A4-D9CE-4FAA-B7BD-5804E66CAF7A}" srcOrd="1" destOrd="0" presId="urn:microsoft.com/office/officeart/2005/8/layout/process2"/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9BA84CD3-E853-4B4A-B52A-C442CA62259D}" type="presOf" srcId="{90E4B46D-78CF-4B00-BE88-2203E759FF1D}" destId="{48720768-7C85-4352-B217-09E3DCC98569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0C5F5BD2-9E69-4090-A661-8B91CB35F8E2}" type="presOf" srcId="{D4D5CA2C-1D1E-4896-B372-1F062C17503A}" destId="{FF0E76F2-59B8-4BFD-8DB0-7B862CC0684B}" srcOrd="0" destOrd="0" presId="urn:microsoft.com/office/officeart/2005/8/layout/process2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8710DF93-0DFF-4976-8D4D-1A86A336D82A}" srcId="{436570DF-6799-468D-BF07-CF1D82E09000}" destId="{D4D5CA2C-1D1E-4896-B372-1F062C17503A}" srcOrd="3" destOrd="0" parTransId="{61C3774B-54F6-493A-9F48-2A456A8555AE}" sibTransId="{90E4B46D-78CF-4B00-BE88-2203E759FF1D}"/>
    <dgm:cxn modelId="{DA475BCA-482A-48A9-9900-1C3229774F41}" type="presOf" srcId="{90E4B46D-78CF-4B00-BE88-2203E759FF1D}" destId="{79E5516B-EC07-4B6A-8DD2-5DEF19274A93}" srcOrd="1" destOrd="0" presId="urn:microsoft.com/office/officeart/2005/8/layout/process2"/>
    <dgm:cxn modelId="{1302FC46-4C1E-49B9-8411-BB8F6A3FF1D3}" type="presOf" srcId="{B86A783D-BCD8-4715-89E1-E6C68BF688EE}" destId="{C89E2556-8A97-4D1C-A4EC-D7BF2EA186FD}" srcOrd="0" destOrd="0" presId="urn:microsoft.com/office/officeart/2005/8/layout/process2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C13C27AA-F327-43AF-9CA4-787DEF64E9D7}" type="presOf" srcId="{24BD2FC0-24AA-4174-B1B7-2BB80DD49BC0}" destId="{634936AA-6D46-44E5-ADBA-9F543A1B427F}" srcOrd="0" destOrd="0" presId="urn:microsoft.com/office/officeart/2005/8/layout/process2"/>
    <dgm:cxn modelId="{B223BF1D-E8B3-4C7C-A15E-48CD6B5FF83A}" srcId="{436570DF-6799-468D-BF07-CF1D82E09000}" destId="{B86A783D-BCD8-4715-89E1-E6C68BF688EE}" srcOrd="4" destOrd="0" parTransId="{DBC03248-059E-40DC-92E4-A899802FFC91}" sibTransId="{941C4D91-F836-4C4B-A71D-B99A8B3300EB}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  <dgm:cxn modelId="{48D39D94-89CB-4B4D-B2D5-9390749BABB9}" type="presParOf" srcId="{08E95E31-B231-439F-95AC-C526F6360306}" destId="{634936AA-6D46-44E5-ADBA-9F543A1B427F}" srcOrd="5" destOrd="0" presId="urn:microsoft.com/office/officeart/2005/8/layout/process2"/>
    <dgm:cxn modelId="{F67E0637-5E4F-49C0-BE3C-28B847CAD610}" type="presParOf" srcId="{634936AA-6D46-44E5-ADBA-9F543A1B427F}" destId="{07C608A4-D9CE-4FAA-B7BD-5804E66CAF7A}" srcOrd="0" destOrd="0" presId="urn:microsoft.com/office/officeart/2005/8/layout/process2"/>
    <dgm:cxn modelId="{DD2FCBE9-0E89-4C22-8F9D-53C30E8FF0C4}" type="presParOf" srcId="{08E95E31-B231-439F-95AC-C526F6360306}" destId="{FF0E76F2-59B8-4BFD-8DB0-7B862CC0684B}" srcOrd="6" destOrd="0" presId="urn:microsoft.com/office/officeart/2005/8/layout/process2"/>
    <dgm:cxn modelId="{F42C4B70-74F6-4861-AC2A-505A6B287CC6}" type="presParOf" srcId="{08E95E31-B231-439F-95AC-C526F6360306}" destId="{48720768-7C85-4352-B217-09E3DCC98569}" srcOrd="7" destOrd="0" presId="urn:microsoft.com/office/officeart/2005/8/layout/process2"/>
    <dgm:cxn modelId="{FCFBF4D8-334A-43F2-BE33-2E18DAD70956}" type="presParOf" srcId="{48720768-7C85-4352-B217-09E3DCC98569}" destId="{79E5516B-EC07-4B6A-8DD2-5DEF19274A93}" srcOrd="0" destOrd="0" presId="urn:microsoft.com/office/officeart/2005/8/layout/process2"/>
    <dgm:cxn modelId="{9B0E61E1-FDF2-45E6-BB4B-B910666AE62B}" type="presParOf" srcId="{08E95E31-B231-439F-95AC-C526F6360306}" destId="{C89E2556-8A97-4D1C-A4EC-D7BF2EA186F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6570DF-6799-468D-BF07-CF1D82E09000}" type="doc">
      <dgm:prSet loTypeId="urn:microsoft.com/office/officeart/2005/8/layout/process2" loCatId="process" qsTypeId="urn:microsoft.com/office/officeart/2005/8/quickstyle/3d1" qsCatId="3D" csTypeId="urn:microsoft.com/office/officeart/2005/8/colors/accent1_2" csCatId="accent1" phldr="1"/>
      <dgm:spPr/>
    </dgm:pt>
    <dgm:pt modelId="{4ED7FF48-7996-4D4A-9063-9627AF90703C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ClrTx/>
            <a:buSzTx/>
            <a:buFontTx/>
            <a:buNone/>
          </a:pPr>
          <a:r>
            <a:rPr lang="en-IN" sz="20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1: </a:t>
          </a: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Seeding of cell line- 6 well plate (0.5 * 10^6 cells/well) </a:t>
          </a:r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92F554-F197-43AF-A341-8F782BCF7F8A}" type="parTrans" cxnId="{989FFD7C-9197-43E1-8D47-E357DF2647CE}">
      <dgm:prSet/>
      <dgm:spPr/>
      <dgm:t>
        <a:bodyPr/>
        <a:lstStyle/>
        <a:p>
          <a:endParaRPr lang="en-IN" sz="2000" b="0" i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4753-9101-475B-B771-426E0C9F48F5}" type="sibTrans" cxnId="{989FFD7C-9197-43E1-8D47-E357DF2647CE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1033DB-4776-4C6C-8D4A-BA7E19EBE081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3: Cells washed with Cell cycle buffer and fixed with</a:t>
          </a:r>
        </a:p>
        <a:p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70 % ethanol</a:t>
          </a:r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2B87EB-20F8-4631-A31E-6609610ED44D}" type="parTrans" cxnId="{28E54776-0A79-4421-9EC8-7358026087DC}">
      <dgm:prSet/>
      <dgm:spPr/>
      <dgm:t>
        <a:bodyPr/>
        <a:lstStyle/>
        <a:p>
          <a:endParaRPr lang="en-IN" sz="2000" b="0" i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BD2FC0-24AA-4174-B1B7-2BB80DD49BC0}" type="sibTrans" cxnId="{28E54776-0A79-4421-9EC8-7358026087DC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AEA98-2CE3-4D8E-94D9-82CF564183BB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2: Test Compound Treatment</a:t>
          </a:r>
        </a:p>
      </dgm:t>
    </dgm:pt>
    <dgm:pt modelId="{0BC950AF-E9BA-40A1-9BF2-FCEBDFFDC797}" type="parTrans" cxnId="{6C71ECF9-A67F-497B-8F84-03C78D5D8DDD}">
      <dgm:prSet/>
      <dgm:spPr/>
      <dgm:t>
        <a:bodyPr/>
        <a:lstStyle/>
        <a:p>
          <a:endParaRPr lang="en-IN" sz="2000" b="0" i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B0CDC0-88BA-44F4-97AD-F97B1D8E6E33}" type="sibTrans" cxnId="{6C71ECF9-A67F-497B-8F84-03C78D5D8DDD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5CA2C-1D1E-4896-B372-1F062C17503A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Cells washed with Cell Cycle Buffer and stained with Dye Solution for 30 mins at RT</a:t>
          </a:r>
          <a:endParaRPr lang="en-US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C3774B-54F6-493A-9F48-2A456A8555AE}" type="parTrans" cxnId="{8710DF93-0DFF-4976-8D4D-1A86A336D82A}">
      <dgm:prSet/>
      <dgm:spPr/>
      <dgm:t>
        <a:bodyPr/>
        <a:lstStyle/>
        <a:p>
          <a:endParaRPr lang="en-US" sz="2000" b="0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4B46D-78CF-4B00-BE88-2203E759FF1D}" type="sibTrans" cxnId="{8710DF93-0DFF-4976-8D4D-1A86A336D82A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 sz="2000" b="0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6A783D-BCD8-4715-89E1-E6C68BF688EE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kumimoji="0" lang="en-IN" sz="20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Cells washed and acquired in BD </a:t>
          </a:r>
          <a:r>
            <a:rPr kumimoji="0" lang="en-IN" sz="2000" b="1" i="0" u="none" strike="noStrike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Cytoflex</a:t>
          </a:r>
          <a:endParaRPr lang="en-IN" sz="2000" b="0" i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C03248-059E-40DC-92E4-A899802FFC91}" type="parTrans" cxnId="{B223BF1D-E8B3-4C7C-A15E-48CD6B5FF83A}">
      <dgm:prSet/>
      <dgm:spPr/>
      <dgm:t>
        <a:bodyPr/>
        <a:lstStyle/>
        <a:p>
          <a:endParaRPr lang="en-US" sz="2000" b="0" i="0"/>
        </a:p>
      </dgm:t>
    </dgm:pt>
    <dgm:pt modelId="{941C4D91-F836-4C4B-A71D-B99A8B3300EB}" type="sibTrans" cxnId="{B223BF1D-E8B3-4C7C-A15E-48CD6B5FF83A}">
      <dgm:prSet/>
      <dgm:spPr/>
      <dgm:t>
        <a:bodyPr/>
        <a:lstStyle/>
        <a:p>
          <a:endParaRPr lang="en-US" sz="2000" b="0" i="0"/>
        </a:p>
      </dgm:t>
    </dgm:pt>
    <dgm:pt modelId="{08E95E31-B231-439F-95AC-C526F6360306}" type="pres">
      <dgm:prSet presAssocID="{436570DF-6799-468D-BF07-CF1D82E09000}" presName="linearFlow" presStyleCnt="0">
        <dgm:presLayoutVars>
          <dgm:resizeHandles val="exact"/>
        </dgm:presLayoutVars>
      </dgm:prSet>
      <dgm:spPr/>
    </dgm:pt>
    <dgm:pt modelId="{9F37D771-FFA0-4BFD-827B-DA176B373D83}" type="pres">
      <dgm:prSet presAssocID="{4ED7FF48-7996-4D4A-9063-9627AF90703C}" presName="node" presStyleLbl="node1" presStyleIdx="0" presStyleCnt="5" custScaleX="200726" custScaleY="46353" custLinFactNeighborX="5673" custLinFactNeighborY="8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44932-2C78-44B6-9B30-4946AAA6EC1E}" type="pres">
      <dgm:prSet presAssocID="{63724753-9101-475B-B771-426E0C9F48F5}" presName="sibTrans" presStyleLbl="sibTrans2D1" presStyleIdx="0" presStyleCnt="4" custAng="0" custScaleX="105659" custScaleY="82493" custLinFactNeighborX="-13893" custLinFactNeighborY="8051"/>
      <dgm:spPr/>
      <dgm:t>
        <a:bodyPr/>
        <a:lstStyle/>
        <a:p>
          <a:endParaRPr lang="en-US"/>
        </a:p>
      </dgm:t>
    </dgm:pt>
    <dgm:pt modelId="{11C5E061-ABB1-473E-9A28-19B46ED4B0D2}" type="pres">
      <dgm:prSet presAssocID="{63724753-9101-475B-B771-426E0C9F48F5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67BBB799-AB9D-40D7-8C31-8D1EEA94AA2B}" type="pres">
      <dgm:prSet presAssocID="{B21AEA98-2CE3-4D8E-94D9-82CF564183BB}" presName="node" presStyleLbl="node1" presStyleIdx="1" presStyleCnt="5" custScaleX="200726" custScaleY="617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ECC52-85C1-4034-B8C1-CC6E4BE6EBDE}" type="pres">
      <dgm:prSet presAssocID="{98B0CDC0-88BA-44F4-97AD-F97B1D8E6E33}" presName="sibTrans" presStyleLbl="sibTrans2D1" presStyleIdx="1" presStyleCnt="4" custScaleX="94492" custScaleY="82493" custLinFactNeighborX="-13553" custLinFactNeighborY="174"/>
      <dgm:spPr/>
      <dgm:t>
        <a:bodyPr/>
        <a:lstStyle/>
        <a:p>
          <a:endParaRPr lang="en-US"/>
        </a:p>
      </dgm:t>
    </dgm:pt>
    <dgm:pt modelId="{AC7ABB27-9903-4592-8C4C-E52EEE353760}" type="pres">
      <dgm:prSet presAssocID="{98B0CDC0-88BA-44F4-97AD-F97B1D8E6E33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0CB13BE0-38DA-43E0-ADEA-ACF334EAF426}" type="pres">
      <dgm:prSet presAssocID="{EC1033DB-4776-4C6C-8D4A-BA7E19EBE081}" presName="node" presStyleLbl="node1" presStyleIdx="2" presStyleCnt="5" custScaleX="200726" custScaleY="58916" custLinFactNeighborX="-31483" custLinFactNeighborY="-40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4936AA-6D46-44E5-ADBA-9F543A1B427F}" type="pres">
      <dgm:prSet presAssocID="{24BD2FC0-24AA-4174-B1B7-2BB80DD49BC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07C608A4-D9CE-4FAA-B7BD-5804E66CAF7A}" type="pres">
      <dgm:prSet presAssocID="{24BD2FC0-24AA-4174-B1B7-2BB80DD49BC0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FF0E76F2-59B8-4BFD-8DB0-7B862CC0684B}" type="pres">
      <dgm:prSet presAssocID="{D4D5CA2C-1D1E-4896-B372-1F062C17503A}" presName="node" presStyleLbl="node1" presStyleIdx="3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720768-7C85-4352-B217-09E3DCC98569}" type="pres">
      <dgm:prSet presAssocID="{90E4B46D-78CF-4B00-BE88-2203E759FF1D}" presName="sibTrans" presStyleLbl="sibTrans2D1" presStyleIdx="3" presStyleCnt="4"/>
      <dgm:spPr/>
      <dgm:t>
        <a:bodyPr/>
        <a:lstStyle/>
        <a:p>
          <a:endParaRPr lang="en-US"/>
        </a:p>
      </dgm:t>
    </dgm:pt>
    <dgm:pt modelId="{79E5516B-EC07-4B6A-8DD2-5DEF19274A93}" type="pres">
      <dgm:prSet presAssocID="{90E4B46D-78CF-4B00-BE88-2203E759FF1D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C89E2556-8A97-4D1C-A4EC-D7BF2EA186FD}" type="pres">
      <dgm:prSet presAssocID="{B86A783D-BCD8-4715-89E1-E6C68BF688EE}" presName="node" presStyleLbl="node1" presStyleIdx="4" presStyleCnt="5" custScaleX="200726" custScaleY="48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93ACC4-AB33-43B4-8E91-6DA4FE20EAE6}" type="presOf" srcId="{24BD2FC0-24AA-4174-B1B7-2BB80DD49BC0}" destId="{07C608A4-D9CE-4FAA-B7BD-5804E66CAF7A}" srcOrd="1" destOrd="0" presId="urn:microsoft.com/office/officeart/2005/8/layout/process2"/>
    <dgm:cxn modelId="{45342AD9-4357-4094-98BF-5CF049DC10C2}" type="presOf" srcId="{63724753-9101-475B-B771-426E0C9F48F5}" destId="{67244932-2C78-44B6-9B30-4946AAA6EC1E}" srcOrd="0" destOrd="0" presId="urn:microsoft.com/office/officeart/2005/8/layout/process2"/>
    <dgm:cxn modelId="{9BA84CD3-E853-4B4A-B52A-C442CA62259D}" type="presOf" srcId="{90E4B46D-78CF-4B00-BE88-2203E759FF1D}" destId="{48720768-7C85-4352-B217-09E3DCC98569}" srcOrd="0" destOrd="0" presId="urn:microsoft.com/office/officeart/2005/8/layout/process2"/>
    <dgm:cxn modelId="{510E3614-1EB5-4DD6-A572-7E175E6AA188}" type="presOf" srcId="{63724753-9101-475B-B771-426E0C9F48F5}" destId="{11C5E061-ABB1-473E-9A28-19B46ED4B0D2}" srcOrd="1" destOrd="0" presId="urn:microsoft.com/office/officeart/2005/8/layout/process2"/>
    <dgm:cxn modelId="{7C345007-58B3-441C-8847-D109451E0935}" type="presOf" srcId="{436570DF-6799-468D-BF07-CF1D82E09000}" destId="{08E95E31-B231-439F-95AC-C526F6360306}" srcOrd="0" destOrd="0" presId="urn:microsoft.com/office/officeart/2005/8/layout/process2"/>
    <dgm:cxn modelId="{6C71ECF9-A67F-497B-8F84-03C78D5D8DDD}" srcId="{436570DF-6799-468D-BF07-CF1D82E09000}" destId="{B21AEA98-2CE3-4D8E-94D9-82CF564183BB}" srcOrd="1" destOrd="0" parTransId="{0BC950AF-E9BA-40A1-9BF2-FCEBDFFDC797}" sibTransId="{98B0CDC0-88BA-44F4-97AD-F97B1D8E6E33}"/>
    <dgm:cxn modelId="{0C5F5BD2-9E69-4090-A661-8B91CB35F8E2}" type="presOf" srcId="{D4D5CA2C-1D1E-4896-B372-1F062C17503A}" destId="{FF0E76F2-59B8-4BFD-8DB0-7B862CC0684B}" srcOrd="0" destOrd="0" presId="urn:microsoft.com/office/officeart/2005/8/layout/process2"/>
    <dgm:cxn modelId="{BC5DCA2B-ABDD-4482-A8ED-C6B4499BDBDB}" type="presOf" srcId="{EC1033DB-4776-4C6C-8D4A-BA7E19EBE081}" destId="{0CB13BE0-38DA-43E0-ADEA-ACF334EAF426}" srcOrd="0" destOrd="0" presId="urn:microsoft.com/office/officeart/2005/8/layout/process2"/>
    <dgm:cxn modelId="{B766B791-1F94-4351-BD37-271FF666D138}" type="presOf" srcId="{98B0CDC0-88BA-44F4-97AD-F97B1D8E6E33}" destId="{864ECC52-85C1-4034-B8C1-CC6E4BE6EBDE}" srcOrd="0" destOrd="0" presId="urn:microsoft.com/office/officeart/2005/8/layout/process2"/>
    <dgm:cxn modelId="{28E54776-0A79-4421-9EC8-7358026087DC}" srcId="{436570DF-6799-468D-BF07-CF1D82E09000}" destId="{EC1033DB-4776-4C6C-8D4A-BA7E19EBE081}" srcOrd="2" destOrd="0" parTransId="{F52B87EB-20F8-4631-A31E-6609610ED44D}" sibTransId="{24BD2FC0-24AA-4174-B1B7-2BB80DD49BC0}"/>
    <dgm:cxn modelId="{D2DAEC31-7E8C-4A6C-A1DD-0AD08B8C88F4}" type="presOf" srcId="{B21AEA98-2CE3-4D8E-94D9-82CF564183BB}" destId="{67BBB799-AB9D-40D7-8C31-8D1EEA94AA2B}" srcOrd="0" destOrd="0" presId="urn:microsoft.com/office/officeart/2005/8/layout/process2"/>
    <dgm:cxn modelId="{8710DF93-0DFF-4976-8D4D-1A86A336D82A}" srcId="{436570DF-6799-468D-BF07-CF1D82E09000}" destId="{D4D5CA2C-1D1E-4896-B372-1F062C17503A}" srcOrd="3" destOrd="0" parTransId="{61C3774B-54F6-493A-9F48-2A456A8555AE}" sibTransId="{90E4B46D-78CF-4B00-BE88-2203E759FF1D}"/>
    <dgm:cxn modelId="{DA475BCA-482A-48A9-9900-1C3229774F41}" type="presOf" srcId="{90E4B46D-78CF-4B00-BE88-2203E759FF1D}" destId="{79E5516B-EC07-4B6A-8DD2-5DEF19274A93}" srcOrd="1" destOrd="0" presId="urn:microsoft.com/office/officeart/2005/8/layout/process2"/>
    <dgm:cxn modelId="{1302FC46-4C1E-49B9-8411-BB8F6A3FF1D3}" type="presOf" srcId="{B86A783D-BCD8-4715-89E1-E6C68BF688EE}" destId="{C89E2556-8A97-4D1C-A4EC-D7BF2EA186FD}" srcOrd="0" destOrd="0" presId="urn:microsoft.com/office/officeart/2005/8/layout/process2"/>
    <dgm:cxn modelId="{989FFD7C-9197-43E1-8D47-E357DF2647CE}" srcId="{436570DF-6799-468D-BF07-CF1D82E09000}" destId="{4ED7FF48-7996-4D4A-9063-9627AF90703C}" srcOrd="0" destOrd="0" parTransId="{1492F554-F197-43AF-A341-8F782BCF7F8A}" sibTransId="{63724753-9101-475B-B771-426E0C9F48F5}"/>
    <dgm:cxn modelId="{6C4D9CD2-BAD4-4358-9D1E-8978D4016F37}" type="presOf" srcId="{98B0CDC0-88BA-44F4-97AD-F97B1D8E6E33}" destId="{AC7ABB27-9903-4592-8C4C-E52EEE353760}" srcOrd="1" destOrd="0" presId="urn:microsoft.com/office/officeart/2005/8/layout/process2"/>
    <dgm:cxn modelId="{C13C27AA-F327-43AF-9CA4-787DEF64E9D7}" type="presOf" srcId="{24BD2FC0-24AA-4174-B1B7-2BB80DD49BC0}" destId="{634936AA-6D46-44E5-ADBA-9F543A1B427F}" srcOrd="0" destOrd="0" presId="urn:microsoft.com/office/officeart/2005/8/layout/process2"/>
    <dgm:cxn modelId="{B223BF1D-E8B3-4C7C-A15E-48CD6B5FF83A}" srcId="{436570DF-6799-468D-BF07-CF1D82E09000}" destId="{B86A783D-BCD8-4715-89E1-E6C68BF688EE}" srcOrd="4" destOrd="0" parTransId="{DBC03248-059E-40DC-92E4-A899802FFC91}" sibTransId="{941C4D91-F836-4C4B-A71D-B99A8B3300EB}"/>
    <dgm:cxn modelId="{B33BCA89-F8D5-4485-80C4-8D283815E9DB}" type="presOf" srcId="{4ED7FF48-7996-4D4A-9063-9627AF90703C}" destId="{9F37D771-FFA0-4BFD-827B-DA176B373D83}" srcOrd="0" destOrd="0" presId="urn:microsoft.com/office/officeart/2005/8/layout/process2"/>
    <dgm:cxn modelId="{BF1ED1EE-EAB7-4E81-A2BB-826099F50DD8}" type="presParOf" srcId="{08E95E31-B231-439F-95AC-C526F6360306}" destId="{9F37D771-FFA0-4BFD-827B-DA176B373D83}" srcOrd="0" destOrd="0" presId="urn:microsoft.com/office/officeart/2005/8/layout/process2"/>
    <dgm:cxn modelId="{3AE00791-0FB3-48DE-A39D-5F241345D3C7}" type="presParOf" srcId="{08E95E31-B231-439F-95AC-C526F6360306}" destId="{67244932-2C78-44B6-9B30-4946AAA6EC1E}" srcOrd="1" destOrd="0" presId="urn:microsoft.com/office/officeart/2005/8/layout/process2"/>
    <dgm:cxn modelId="{6021719F-EDB9-436B-81E6-247C6E8335C0}" type="presParOf" srcId="{67244932-2C78-44B6-9B30-4946AAA6EC1E}" destId="{11C5E061-ABB1-473E-9A28-19B46ED4B0D2}" srcOrd="0" destOrd="0" presId="urn:microsoft.com/office/officeart/2005/8/layout/process2"/>
    <dgm:cxn modelId="{FABDA623-D15D-4F06-9D1C-880BACE97CC4}" type="presParOf" srcId="{08E95E31-B231-439F-95AC-C526F6360306}" destId="{67BBB799-AB9D-40D7-8C31-8D1EEA94AA2B}" srcOrd="2" destOrd="0" presId="urn:microsoft.com/office/officeart/2005/8/layout/process2"/>
    <dgm:cxn modelId="{FD04176B-67E2-4AD6-AF07-1A839CD81F63}" type="presParOf" srcId="{08E95E31-B231-439F-95AC-C526F6360306}" destId="{864ECC52-85C1-4034-B8C1-CC6E4BE6EBDE}" srcOrd="3" destOrd="0" presId="urn:microsoft.com/office/officeart/2005/8/layout/process2"/>
    <dgm:cxn modelId="{4A8FB0EB-4553-4808-993F-F3F2B79F5DD1}" type="presParOf" srcId="{864ECC52-85C1-4034-B8C1-CC6E4BE6EBDE}" destId="{AC7ABB27-9903-4592-8C4C-E52EEE353760}" srcOrd="0" destOrd="0" presId="urn:microsoft.com/office/officeart/2005/8/layout/process2"/>
    <dgm:cxn modelId="{ACA7D0C5-102E-4004-A775-31ADD62E9034}" type="presParOf" srcId="{08E95E31-B231-439F-95AC-C526F6360306}" destId="{0CB13BE0-38DA-43E0-ADEA-ACF334EAF426}" srcOrd="4" destOrd="0" presId="urn:microsoft.com/office/officeart/2005/8/layout/process2"/>
    <dgm:cxn modelId="{48D39D94-89CB-4B4D-B2D5-9390749BABB9}" type="presParOf" srcId="{08E95E31-B231-439F-95AC-C526F6360306}" destId="{634936AA-6D46-44E5-ADBA-9F543A1B427F}" srcOrd="5" destOrd="0" presId="urn:microsoft.com/office/officeart/2005/8/layout/process2"/>
    <dgm:cxn modelId="{F67E0637-5E4F-49C0-BE3C-28B847CAD610}" type="presParOf" srcId="{634936AA-6D46-44E5-ADBA-9F543A1B427F}" destId="{07C608A4-D9CE-4FAA-B7BD-5804E66CAF7A}" srcOrd="0" destOrd="0" presId="urn:microsoft.com/office/officeart/2005/8/layout/process2"/>
    <dgm:cxn modelId="{DD2FCBE9-0E89-4C22-8F9D-53C30E8FF0C4}" type="presParOf" srcId="{08E95E31-B231-439F-95AC-C526F6360306}" destId="{FF0E76F2-59B8-4BFD-8DB0-7B862CC0684B}" srcOrd="6" destOrd="0" presId="urn:microsoft.com/office/officeart/2005/8/layout/process2"/>
    <dgm:cxn modelId="{F42C4B70-74F6-4861-AC2A-505A6B287CC6}" type="presParOf" srcId="{08E95E31-B231-439F-95AC-C526F6360306}" destId="{48720768-7C85-4352-B217-09E3DCC98569}" srcOrd="7" destOrd="0" presId="urn:microsoft.com/office/officeart/2005/8/layout/process2"/>
    <dgm:cxn modelId="{FCFBF4D8-334A-43F2-BE33-2E18DAD70956}" type="presParOf" srcId="{48720768-7C85-4352-B217-09E3DCC98569}" destId="{79E5516B-EC07-4B6A-8DD2-5DEF19274A93}" srcOrd="0" destOrd="0" presId="urn:microsoft.com/office/officeart/2005/8/layout/process2"/>
    <dgm:cxn modelId="{9B0E61E1-FDF2-45E6-BB4B-B910666AE62B}" type="presParOf" srcId="{08E95E31-B231-439F-95AC-C526F6360306}" destId="{C89E2556-8A97-4D1C-A4EC-D7BF2EA186F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A255A3C-2578-164D-89B5-FAFD759BF848}" type="doc">
      <dgm:prSet loTypeId="urn:microsoft.com/office/officeart/2005/8/layout/chevron2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1E0DEE5-4859-364B-8405-E6645DAC88AA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Whole blood processing</a:t>
          </a:r>
        </a:p>
      </dgm:t>
    </dgm:pt>
    <dgm:pt modelId="{53804852-9195-7041-9A65-88CE611BDE91}" type="parTrans" cxnId="{6A754B31-8647-0545-A4D1-4905247E8C0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94E9CE-1E65-8A45-A292-ACEE343B73D6}" type="sibTrans" cxnId="{6A754B31-8647-0545-A4D1-4905247E8C0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D690B6-A11A-9942-913F-478AE65900A9}">
      <dgm:prSet phldrT="[Text]" custT="1"/>
      <dgm:spPr/>
      <dgm:t>
        <a:bodyPr/>
        <a:lstStyle/>
        <a:p>
          <a:r>
            <a:rPr lang="en-US" sz="3000" dirty="0">
              <a:latin typeface="Arial" panose="020B0604020202020204" pitchFamily="34" charset="0"/>
              <a:cs typeface="Arial" panose="020B0604020202020204" pitchFamily="34" charset="0"/>
            </a:rPr>
            <a:t>Blood from healthy donor withdrawn</a:t>
          </a:r>
        </a:p>
      </dgm:t>
    </dgm:pt>
    <dgm:pt modelId="{45E25E6E-94A8-914E-9127-4FACC8A0E56D}" type="parTrans" cxnId="{8C0D9F29-D272-6844-B022-860A6C97C4B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BFCC3F-B390-7B4D-9B26-824922CF5A17}" type="sibTrans" cxnId="{8C0D9F29-D272-6844-B022-860A6C97C4B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4105D6-EDB0-D140-84D4-AD6044DB599A}">
      <dgm:prSet phldrT="[Text]" custT="1"/>
      <dgm:spPr/>
      <dgm:t>
        <a:bodyPr/>
        <a:lstStyle/>
        <a:p>
          <a:r>
            <a:rPr lang="en-US" sz="3000" dirty="0">
              <a:latin typeface="Arial" panose="020B0604020202020204" pitchFamily="34" charset="0"/>
              <a:cs typeface="Arial" panose="020B0604020202020204" pitchFamily="34" charset="0"/>
            </a:rPr>
            <a:t>Whole blood used for the assay</a:t>
          </a:r>
        </a:p>
      </dgm:t>
    </dgm:pt>
    <dgm:pt modelId="{08C686A8-6AFC-714B-BDAD-F272DE839EB0}" type="parTrans" cxnId="{4F251760-1FC3-164A-A84A-D89C952DBCF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BAF1F1-24A6-ED46-8E9D-A68E8D98C391}" type="sibTrans" cxnId="{4F251760-1FC3-164A-A84A-D89C952DBCF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DCA7D3-6251-FF4B-B251-A90E2B9A0E7C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Compound </a:t>
          </a: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treatment</a:t>
          </a: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and cytokine induction</a:t>
          </a:r>
        </a:p>
      </dgm:t>
    </dgm:pt>
    <dgm:pt modelId="{F7590F8E-56C0-8B45-8447-9A9F69D689B5}" type="parTrans" cxnId="{5CD24443-973B-2246-8A39-34EDB9A933CF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B774B3-D6CC-044F-A8DE-5336C608DD85}" type="sibTrans" cxnId="{5CD24443-973B-2246-8A39-34EDB9A933CF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7E4A0E-AEBE-774E-90C8-06F19D818081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Analysis</a:t>
          </a:r>
        </a:p>
      </dgm:t>
    </dgm:pt>
    <dgm:pt modelId="{28616E57-5C64-184F-80BF-F0BD06498FBC}" type="parTrans" cxnId="{3C71F924-04DB-8046-912D-0D2F422F1E0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EF4EA-B24F-3445-AF84-EEFA4CA431D5}" type="sibTrans" cxnId="{3C71F924-04DB-8046-912D-0D2F422F1E0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EE3A0187-BBDF-234E-B8B7-9BBACFD632EA}">
          <dgm:prSet phldrT="[Text]" custT="1"/>
          <dgm:spPr/>
          <dgm:t>
            <a:bodyPr/>
            <a:lstStyle/>
            <a:p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Followed by surface Abs staining at 4</a:t>
              </a:r>
              <a14:m>
                <m:oMath xmlns:m="http://schemas.openxmlformats.org/officeDocument/2006/math">
                  <m:r>
                    <a:rPr lang="en-US" sz="3000" smtClean="0">
                      <a:solidFill>
                        <a:prstClr val="black">
                          <a:hueOff val="0"/>
                          <a:satOff val="0"/>
                          <a:lumOff val="0"/>
                          <a:alphaOff val="0"/>
                        </a:prstClr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°</m:t>
                  </m:r>
                </m:oMath>
              </a14:m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 for 30 min.</a:t>
              </a:r>
              <a:r>
                <a:rPr lang="en-US" sz="30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endParaRPr lang="en-US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Choice>
      <mc:Fallback xmlns="">
        <dgm:pt modelId="{EE3A0187-BBDF-234E-B8B7-9BBACFD632EA}">
          <dgm:prSet phldrT="[Text]" custT="1"/>
          <dgm:spPr/>
          <dgm:t>
            <a:bodyPr/>
            <a:lstStyle/>
            <a:p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Followed by surface Abs staining at 4</a:t>
              </a:r>
              <a:r>
                <a:rPr lang="en-US" sz="3000" i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°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 for 30 min.</a:t>
              </a:r>
              <a:r>
                <a:rPr lang="en-US" sz="30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endParaRPr lang="en-US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Fallback>
    </mc:AlternateContent>
    <dgm:pt modelId="{88CA74B0-AE25-9C40-B472-829D18D101CC}" type="parTrans" cxnId="{8B55BDA7-05CA-5B48-B815-977C08CCE17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646BBD-CB6C-7C40-B00C-B1EDB9A89F7B}" type="sibTrans" cxnId="{8B55BDA7-05CA-5B48-B815-977C08CCE17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24E9DA77-F40B-A74C-92E6-6812D9D67190}">
          <dgm:prSet phldrT="[Text]" custT="1"/>
          <dgm:spPr/>
          <dgm:t>
            <a:bodyPr/>
            <a:lstStyle/>
            <a:p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Permeabilization followed by </a:t>
              </a:r>
              <a:r>
                <a:rPr lang="en-US" sz="3000" dirty="0" err="1">
                  <a:latin typeface="Arial" panose="020B0604020202020204" pitchFamily="34" charset="0"/>
                  <a:cs typeface="Arial" panose="020B0604020202020204" pitchFamily="34" charset="0"/>
                </a:rPr>
                <a:t>pSTAT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staining at 4</a:t>
              </a:r>
              <a14:m>
                <m:oMath xmlns:m="http://schemas.openxmlformats.org/officeDocument/2006/math">
                  <m:r>
                    <a:rPr lang="en-US" sz="3000" smtClean="0">
                      <a:solidFill>
                        <a:prstClr val="black">
                          <a:hueOff val="0"/>
                          <a:satOff val="0"/>
                          <a:lumOff val="0"/>
                          <a:alphaOff val="0"/>
                        </a:prstClr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°</m:t>
                  </m:r>
                </m:oMath>
              </a14:m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 for 2h</a:t>
              </a:r>
            </a:p>
          </dgm:t>
        </dgm:pt>
      </mc:Choice>
      <mc:Fallback xmlns="">
        <dgm:pt modelId="{24E9DA77-F40B-A74C-92E6-6812D9D67190}">
          <dgm:prSet phldrT="[Text]" custT="1"/>
          <dgm:spPr/>
          <dgm:t>
            <a:bodyPr/>
            <a:lstStyle/>
            <a:p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Permeabilization followed by </a:t>
              </a:r>
              <a:r>
                <a:rPr lang="en-US" sz="30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pSTAT</a:t>
              </a:r>
              <a:r>
                <a:rPr lang="en-US" sz="3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staining at 4</a:t>
              </a:r>
              <a:r>
                <a:rPr lang="en-US" sz="3000" i="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°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 for 2h</a:t>
              </a:r>
            </a:p>
          </dgm:t>
        </dgm:pt>
      </mc:Fallback>
    </mc:AlternateContent>
    <dgm:pt modelId="{80104097-8E3E-9841-9190-DAF5435E15C6}" type="parTrans" cxnId="{EFCE335D-9BE8-C242-BBFE-55A94F48F3C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AE6D53-3334-6149-B299-9EBF2973896B}" type="sibTrans" cxnId="{EFCE335D-9BE8-C242-BBFE-55A94F48F3C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E795AE18-56D7-2D4C-B88D-36F9A7AE3F33}">
          <dgm:prSet phldrT="[Text]" custT="1"/>
          <dgm:spPr/>
          <dgm:t>
            <a:bodyPr/>
            <a:lstStyle/>
            <a:p>
              <a:r>
                <a:rPr lang="en-US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Treatment with compounds - 37</a:t>
              </a:r>
              <a14:m>
                <m:oMath xmlns:m="http://schemas.openxmlformats.org/officeDocument/2006/math">
                  <m:r>
                    <a:rPr lang="en-US" sz="3000" kern="1200" smtClean="0">
                      <a:solidFill>
                        <a:prstClr val="black">
                          <a:hueOff val="0"/>
                          <a:satOff val="0"/>
                          <a:lumOff val="0"/>
                          <a:alphaOff val="0"/>
                        </a:prstClr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°</m:t>
                  </m:r>
                </m:oMath>
              </a14:m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C for 30 min.</a:t>
              </a:r>
              <a:r>
                <a:rPr lang="en-US" sz="30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 </a:t>
              </a:r>
            </a:p>
          </dgm:t>
        </dgm:pt>
      </mc:Choice>
      <mc:Fallback xmlns="">
        <dgm:pt modelId="{E795AE18-56D7-2D4C-B88D-36F9A7AE3F33}">
          <dgm:prSet phldrT="[Text]" custT="1"/>
          <dgm:spPr/>
          <dgm:t>
            <a:bodyPr/>
            <a:lstStyle/>
            <a:p>
              <a:r>
                <a:rPr lang="en-US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Treatment with compounds - 37</a:t>
              </a:r>
              <a:r>
                <a:rPr lang="en-US" sz="3000" i="0" kern="120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°</a:t>
              </a:r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C for 30 min.</a:t>
              </a:r>
              <a:r>
                <a:rPr lang="en-US" sz="30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 </a:t>
              </a:r>
            </a:p>
          </dgm:t>
        </dgm:pt>
      </mc:Fallback>
    </mc:AlternateContent>
    <dgm:pt modelId="{B2D11957-336C-7746-8A6C-C34D432D4BDE}" type="sibTrans" cxnId="{B380489D-C650-944B-9388-0FA979B3F0E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E38712-9DC3-E242-B445-0BF4C35A2A28}" type="parTrans" cxnId="{B380489D-C650-944B-9388-0FA979B3F0E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A1B8011-DF7B-6447-900B-331903A2EC25}">
          <dgm:prSet phldrT="[Text]" custT="1"/>
          <dgm:spPr/>
          <dgm:t>
            <a:bodyPr/>
            <a:lstStyle/>
            <a:p>
              <a:r>
                <a:rPr lang="en-US" sz="30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Induction with cytokines </a:t>
              </a:r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- 37</a:t>
              </a:r>
              <a14:m>
                <m:oMath xmlns:m="http://schemas.openxmlformats.org/officeDocument/2006/math">
                  <m:r>
                    <a:rPr lang="en-US" sz="3000" kern="1200" smtClean="0">
                      <a:solidFill>
                        <a:prstClr val="black">
                          <a:hueOff val="0"/>
                          <a:satOff val="0"/>
                          <a:lumOff val="0"/>
                          <a:alphaOff val="0"/>
                        </a:prstClr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°</m:t>
                  </m:r>
                </m:oMath>
              </a14:m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C for 20 min.</a:t>
              </a:r>
              <a:endParaRPr lang="en-US" sz="30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Choice>
      <mc:Fallback xmlns="">
        <dgm:pt modelId="{4A1B8011-DF7B-6447-900B-331903A2EC25}">
          <dgm:prSet phldrT="[Text]" custT="1"/>
          <dgm:spPr/>
          <dgm:t>
            <a:bodyPr/>
            <a:lstStyle/>
            <a:p>
              <a:r>
                <a:rPr lang="en-US" sz="30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Induction with cytokines </a:t>
              </a:r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- 37</a:t>
              </a:r>
              <a:r>
                <a:rPr lang="en-US" sz="3000" i="0" kern="120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°</a:t>
              </a:r>
              <a:r>
                <a:rPr lang="en-US" sz="3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C for 20 min.</a:t>
              </a:r>
              <a:endParaRPr lang="en-US" sz="30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Fallback>
    </mc:AlternateContent>
    <dgm:pt modelId="{8B4666D3-C2F0-8A45-A19C-19CAF5669B2D}" type="sibTrans" cxnId="{B1AD0798-ED1F-F748-A5E7-EBD49A7C975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11A60F-4F43-5F47-9A40-12441921E053}" type="parTrans" cxnId="{B1AD0798-ED1F-F748-A5E7-EBD49A7C975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1C8F9D-77E6-45DA-8032-8B9AA4B75D63}">
      <dgm:prSet phldrT="[Text]" custT="1"/>
      <dgm:spPr/>
      <dgm:t>
        <a:bodyPr/>
        <a:lstStyle/>
        <a:p>
          <a:r>
            <a:rPr lang="en-US" sz="3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Fixed cells, quick wash </a:t>
          </a:r>
        </a:p>
      </dgm:t>
    </dgm:pt>
    <dgm:pt modelId="{5596E15C-0FD8-4A10-98C8-BB0C6703BAC1}" type="parTrans" cxnId="{F1CF0E1A-F52C-46A0-90C0-BD1D23253941}">
      <dgm:prSet/>
      <dgm:spPr/>
      <dgm:t>
        <a:bodyPr/>
        <a:lstStyle/>
        <a:p>
          <a:endParaRPr lang="en-US"/>
        </a:p>
      </dgm:t>
    </dgm:pt>
    <dgm:pt modelId="{0ADC58B3-1807-4159-9031-7EE109BA7805}" type="sibTrans" cxnId="{F1CF0E1A-F52C-46A0-90C0-BD1D23253941}">
      <dgm:prSet/>
      <dgm:spPr/>
      <dgm:t>
        <a:bodyPr/>
        <a:lstStyle/>
        <a:p>
          <a:endParaRPr lang="en-US"/>
        </a:p>
      </dgm:t>
    </dgm:pt>
    <dgm:pt modelId="{BD66903B-C945-4B3D-8B53-D2032B7B0308}">
      <dgm:prSet phldrT="[Text]" custT="1"/>
      <dgm:spPr/>
      <dgm:t>
        <a:bodyPr/>
        <a:lstStyle/>
        <a:p>
          <a:r>
            <a:rPr lang="en-US" sz="3000" dirty="0">
              <a:latin typeface="Arial" panose="020B0604020202020204" pitchFamily="34" charset="0"/>
              <a:cs typeface="Arial" panose="020B0604020202020204" pitchFamily="34" charset="0"/>
            </a:rPr>
            <a:t>Expression check using flow cytometer</a:t>
          </a:r>
        </a:p>
      </dgm:t>
    </dgm:pt>
    <dgm:pt modelId="{2D151F62-2C47-40B1-84D3-58973094B1CA}" type="parTrans" cxnId="{922A9828-471D-4EF5-94ED-C09BDC9014AD}">
      <dgm:prSet/>
      <dgm:spPr/>
      <dgm:t>
        <a:bodyPr/>
        <a:lstStyle/>
        <a:p>
          <a:endParaRPr lang="en-US"/>
        </a:p>
      </dgm:t>
    </dgm:pt>
    <dgm:pt modelId="{1F823901-8FE6-4EE4-9A01-5D4B0E7B90FB}" type="sibTrans" cxnId="{922A9828-471D-4EF5-94ED-C09BDC9014AD}">
      <dgm:prSet/>
      <dgm:spPr/>
      <dgm:t>
        <a:bodyPr/>
        <a:lstStyle/>
        <a:p>
          <a:endParaRPr lang="en-US"/>
        </a:p>
      </dgm:t>
    </dgm:pt>
    <dgm:pt modelId="{E933E12F-E20A-CF49-9CC0-1F9FEAA450EA}" type="pres">
      <dgm:prSet presAssocID="{7A255A3C-2578-164D-89B5-FAFD759BF848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64CCE51-A3D1-FE4C-978C-BE4169576A2A}" type="pres">
      <dgm:prSet presAssocID="{41E0DEE5-4859-364B-8405-E6645DAC88AA}" presName="composite" presStyleCnt="0"/>
      <dgm:spPr/>
    </dgm:pt>
    <dgm:pt modelId="{E404070A-C7BF-854D-A1F5-A565D0164D97}" type="pres">
      <dgm:prSet presAssocID="{41E0DEE5-4859-364B-8405-E6645DAC88AA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3E168E-6CB1-C74B-89C9-4F44CAE79F14}" type="pres">
      <dgm:prSet presAssocID="{41E0DEE5-4859-364B-8405-E6645DAC88AA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B7CAB5-F9E9-4844-948B-BCDD47F61F52}" type="pres">
      <dgm:prSet presAssocID="{4A94E9CE-1E65-8A45-A292-ACEE343B73D6}" presName="sp" presStyleCnt="0"/>
      <dgm:spPr/>
    </dgm:pt>
    <dgm:pt modelId="{44D8DF64-DE6C-0D40-8BE5-04E547BAA120}" type="pres">
      <dgm:prSet presAssocID="{C9DCA7D3-6251-FF4B-B251-A90E2B9A0E7C}" presName="composite" presStyleCnt="0"/>
      <dgm:spPr/>
    </dgm:pt>
    <dgm:pt modelId="{3E146216-9822-1444-B421-EF4EE9791884}" type="pres">
      <dgm:prSet presAssocID="{C9DCA7D3-6251-FF4B-B251-A90E2B9A0E7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EA42D6-D51F-494A-B160-FCDD73A4F16E}" type="pres">
      <dgm:prSet presAssocID="{C9DCA7D3-6251-FF4B-B251-A90E2B9A0E7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9EF251-71FC-4340-B8A6-1B6EDA26A9F7}" type="pres">
      <dgm:prSet presAssocID="{30B774B3-D6CC-044F-A8DE-5336C608DD85}" presName="sp" presStyleCnt="0"/>
      <dgm:spPr/>
    </dgm:pt>
    <dgm:pt modelId="{F28D73B6-C45F-3A42-8085-71C20630587D}" type="pres">
      <dgm:prSet presAssocID="{907E4A0E-AEBE-774E-90C8-06F19D818081}" presName="composite" presStyleCnt="0"/>
      <dgm:spPr/>
    </dgm:pt>
    <dgm:pt modelId="{4C23AAAE-6747-D040-B167-73C505734969}" type="pres">
      <dgm:prSet presAssocID="{907E4A0E-AEBE-774E-90C8-06F19D818081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316645-C25A-2341-A0D3-8856E5907906}" type="pres">
      <dgm:prSet presAssocID="{907E4A0E-AEBE-774E-90C8-06F19D818081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66CFAEB-509A-4973-AB5E-E05288BCA7E1}" type="presOf" srcId="{BD66903B-C945-4B3D-8B53-D2032B7B0308}" destId="{DB316645-C25A-2341-A0D3-8856E5907906}" srcOrd="0" destOrd="2" presId="urn:microsoft.com/office/officeart/2005/8/layout/chevron2"/>
    <dgm:cxn modelId="{92A31AE3-5539-E446-B7CB-471FB8D126D8}" type="presOf" srcId="{41E0DEE5-4859-364B-8405-E6645DAC88AA}" destId="{E404070A-C7BF-854D-A1F5-A565D0164D97}" srcOrd="0" destOrd="0" presId="urn:microsoft.com/office/officeart/2005/8/layout/chevron2"/>
    <dgm:cxn modelId="{8B55BDA7-05CA-5B48-B815-977C08CCE177}" srcId="{907E4A0E-AEBE-774E-90C8-06F19D818081}" destId="{EE3A0187-BBDF-234E-B8B7-9BBACFD632EA}" srcOrd="0" destOrd="0" parTransId="{88CA74B0-AE25-9C40-B472-829D18D101CC}" sibTransId="{39646BBD-CB6C-7C40-B00C-B1EDB9A89F7B}"/>
    <dgm:cxn modelId="{6EAA6D51-A126-9A48-80DB-6D75D4735FC8}" type="presOf" srcId="{7A255A3C-2578-164D-89B5-FAFD759BF848}" destId="{E933E12F-E20A-CF49-9CC0-1F9FEAA450EA}" srcOrd="0" destOrd="0" presId="urn:microsoft.com/office/officeart/2005/8/layout/chevron2"/>
    <dgm:cxn modelId="{BB1A6A97-2514-154F-B71B-E8D697DC7737}" type="presOf" srcId="{86D690B6-A11A-9942-913F-478AE65900A9}" destId="{FF3E168E-6CB1-C74B-89C9-4F44CAE79F14}" srcOrd="0" destOrd="0" presId="urn:microsoft.com/office/officeart/2005/8/layout/chevron2"/>
    <dgm:cxn modelId="{AD723FA2-2865-469C-AEAE-BDE4A4A9C428}" type="presOf" srcId="{361C8F9D-77E6-45DA-8032-8B9AA4B75D63}" destId="{48EA42D6-D51F-494A-B160-FCDD73A4F16E}" srcOrd="0" destOrd="2" presId="urn:microsoft.com/office/officeart/2005/8/layout/chevron2"/>
    <dgm:cxn modelId="{F1CF0E1A-F52C-46A0-90C0-BD1D23253941}" srcId="{C9DCA7D3-6251-FF4B-B251-A90E2B9A0E7C}" destId="{361C8F9D-77E6-45DA-8032-8B9AA4B75D63}" srcOrd="2" destOrd="0" parTransId="{5596E15C-0FD8-4A10-98C8-BB0C6703BAC1}" sibTransId="{0ADC58B3-1807-4159-9031-7EE109BA7805}"/>
    <dgm:cxn modelId="{B1AD0798-ED1F-F748-A5E7-EBD49A7C9750}" srcId="{C9DCA7D3-6251-FF4B-B251-A90E2B9A0E7C}" destId="{4A1B8011-DF7B-6447-900B-331903A2EC25}" srcOrd="1" destOrd="0" parTransId="{8111A60F-4F43-5F47-9A40-12441921E053}" sibTransId="{8B4666D3-C2F0-8A45-A19C-19CAF5669B2D}"/>
    <dgm:cxn modelId="{EFCE335D-9BE8-C242-BBFE-55A94F48F3C4}" srcId="{907E4A0E-AEBE-774E-90C8-06F19D818081}" destId="{24E9DA77-F40B-A74C-92E6-6812D9D67190}" srcOrd="1" destOrd="0" parTransId="{80104097-8E3E-9841-9190-DAF5435E15C6}" sibTransId="{9CAE6D53-3334-6149-B299-9EBF2973896B}"/>
    <dgm:cxn modelId="{87D4A6F4-ADCC-EE45-A561-CF46154A384C}" type="presOf" srcId="{D34105D6-EDB0-D140-84D4-AD6044DB599A}" destId="{FF3E168E-6CB1-C74B-89C9-4F44CAE79F14}" srcOrd="0" destOrd="1" presId="urn:microsoft.com/office/officeart/2005/8/layout/chevron2"/>
    <dgm:cxn modelId="{922A9828-471D-4EF5-94ED-C09BDC9014AD}" srcId="{907E4A0E-AEBE-774E-90C8-06F19D818081}" destId="{BD66903B-C945-4B3D-8B53-D2032B7B0308}" srcOrd="2" destOrd="0" parTransId="{2D151F62-2C47-40B1-84D3-58973094B1CA}" sibTransId="{1F823901-8FE6-4EE4-9A01-5D4B0E7B90FB}"/>
    <dgm:cxn modelId="{CFC9AF18-6A47-8744-9080-D3599BB211DF}" type="presOf" srcId="{EE3A0187-BBDF-234E-B8B7-9BBACFD632EA}" destId="{DB316645-C25A-2341-A0D3-8856E5907906}" srcOrd="0" destOrd="0" presId="urn:microsoft.com/office/officeart/2005/8/layout/chevron2"/>
    <dgm:cxn modelId="{3C71F924-04DB-8046-912D-0D2F422F1E04}" srcId="{7A255A3C-2578-164D-89B5-FAFD759BF848}" destId="{907E4A0E-AEBE-774E-90C8-06F19D818081}" srcOrd="2" destOrd="0" parTransId="{28616E57-5C64-184F-80BF-F0BD06498FBC}" sibTransId="{90EEF4EA-B24F-3445-AF84-EEFA4CA431D5}"/>
    <dgm:cxn modelId="{2AB2636C-67E9-BE4B-8B35-4A5C6B6B70FE}" type="presOf" srcId="{907E4A0E-AEBE-774E-90C8-06F19D818081}" destId="{4C23AAAE-6747-D040-B167-73C505734969}" srcOrd="0" destOrd="0" presId="urn:microsoft.com/office/officeart/2005/8/layout/chevron2"/>
    <dgm:cxn modelId="{6745C090-6669-B841-966A-25FCAD4A411D}" type="presOf" srcId="{C9DCA7D3-6251-FF4B-B251-A90E2B9A0E7C}" destId="{3E146216-9822-1444-B421-EF4EE9791884}" srcOrd="0" destOrd="0" presId="urn:microsoft.com/office/officeart/2005/8/layout/chevron2"/>
    <dgm:cxn modelId="{8C0D9F29-D272-6844-B022-860A6C97C4B2}" srcId="{41E0DEE5-4859-364B-8405-E6645DAC88AA}" destId="{86D690B6-A11A-9942-913F-478AE65900A9}" srcOrd="0" destOrd="0" parTransId="{45E25E6E-94A8-914E-9127-4FACC8A0E56D}" sibTransId="{D7BFCC3F-B390-7B4D-9B26-824922CF5A17}"/>
    <dgm:cxn modelId="{D7C17056-9170-BE47-B8F9-E1F3ED0536D5}" type="presOf" srcId="{4A1B8011-DF7B-6447-900B-331903A2EC25}" destId="{48EA42D6-D51F-494A-B160-FCDD73A4F16E}" srcOrd="0" destOrd="1" presId="urn:microsoft.com/office/officeart/2005/8/layout/chevron2"/>
    <dgm:cxn modelId="{7BD50125-EBA5-EC4D-99B2-678FB7EF0FD4}" type="presOf" srcId="{24E9DA77-F40B-A74C-92E6-6812D9D67190}" destId="{DB316645-C25A-2341-A0D3-8856E5907906}" srcOrd="0" destOrd="1" presId="urn:microsoft.com/office/officeart/2005/8/layout/chevron2"/>
    <dgm:cxn modelId="{0B8FC6A1-E529-0444-867C-4FA731DE3F12}" type="presOf" srcId="{E795AE18-56D7-2D4C-B88D-36F9A7AE3F33}" destId="{48EA42D6-D51F-494A-B160-FCDD73A4F16E}" srcOrd="0" destOrd="0" presId="urn:microsoft.com/office/officeart/2005/8/layout/chevron2"/>
    <dgm:cxn modelId="{5CD24443-973B-2246-8A39-34EDB9A933CF}" srcId="{7A255A3C-2578-164D-89B5-FAFD759BF848}" destId="{C9DCA7D3-6251-FF4B-B251-A90E2B9A0E7C}" srcOrd="1" destOrd="0" parTransId="{F7590F8E-56C0-8B45-8447-9A9F69D689B5}" sibTransId="{30B774B3-D6CC-044F-A8DE-5336C608DD85}"/>
    <dgm:cxn modelId="{6A754B31-8647-0545-A4D1-4905247E8C0A}" srcId="{7A255A3C-2578-164D-89B5-FAFD759BF848}" destId="{41E0DEE5-4859-364B-8405-E6645DAC88AA}" srcOrd="0" destOrd="0" parTransId="{53804852-9195-7041-9A65-88CE611BDE91}" sibTransId="{4A94E9CE-1E65-8A45-A292-ACEE343B73D6}"/>
    <dgm:cxn modelId="{4F251760-1FC3-164A-A84A-D89C952DBCF9}" srcId="{41E0DEE5-4859-364B-8405-E6645DAC88AA}" destId="{D34105D6-EDB0-D140-84D4-AD6044DB599A}" srcOrd="1" destOrd="0" parTransId="{08C686A8-6AFC-714B-BDAD-F272DE839EB0}" sibTransId="{C7BAF1F1-24A6-ED46-8E9D-A68E8D98C391}"/>
    <dgm:cxn modelId="{B380489D-C650-944B-9388-0FA979B3F0EE}" srcId="{C9DCA7D3-6251-FF4B-B251-A90E2B9A0E7C}" destId="{E795AE18-56D7-2D4C-B88D-36F9A7AE3F33}" srcOrd="0" destOrd="0" parTransId="{60E38712-9DC3-E242-B445-0BF4C35A2A28}" sibTransId="{B2D11957-336C-7746-8A6C-C34D432D4BDE}"/>
    <dgm:cxn modelId="{60B3457D-DF7C-B741-AFA0-DB6E47B1B48C}" type="presParOf" srcId="{E933E12F-E20A-CF49-9CC0-1F9FEAA450EA}" destId="{F64CCE51-A3D1-FE4C-978C-BE4169576A2A}" srcOrd="0" destOrd="0" presId="urn:microsoft.com/office/officeart/2005/8/layout/chevron2"/>
    <dgm:cxn modelId="{95827295-1D3E-8D47-B1EF-CC518A172314}" type="presParOf" srcId="{F64CCE51-A3D1-FE4C-978C-BE4169576A2A}" destId="{E404070A-C7BF-854D-A1F5-A565D0164D97}" srcOrd="0" destOrd="0" presId="urn:microsoft.com/office/officeart/2005/8/layout/chevron2"/>
    <dgm:cxn modelId="{2EEA721C-2F4F-4E43-9DC6-E14B04B798EE}" type="presParOf" srcId="{F64CCE51-A3D1-FE4C-978C-BE4169576A2A}" destId="{FF3E168E-6CB1-C74B-89C9-4F44CAE79F14}" srcOrd="1" destOrd="0" presId="urn:microsoft.com/office/officeart/2005/8/layout/chevron2"/>
    <dgm:cxn modelId="{F29E5FDD-17D7-B54C-AA8F-18CACA80A205}" type="presParOf" srcId="{E933E12F-E20A-CF49-9CC0-1F9FEAA450EA}" destId="{5BB7CAB5-F9E9-4844-948B-BCDD47F61F52}" srcOrd="1" destOrd="0" presId="urn:microsoft.com/office/officeart/2005/8/layout/chevron2"/>
    <dgm:cxn modelId="{DF096BF9-0D15-B244-BD3A-533EA1545147}" type="presParOf" srcId="{E933E12F-E20A-CF49-9CC0-1F9FEAA450EA}" destId="{44D8DF64-DE6C-0D40-8BE5-04E547BAA120}" srcOrd="2" destOrd="0" presId="urn:microsoft.com/office/officeart/2005/8/layout/chevron2"/>
    <dgm:cxn modelId="{0083A8CD-4DDD-994F-86DD-C8C63EAB65DF}" type="presParOf" srcId="{44D8DF64-DE6C-0D40-8BE5-04E547BAA120}" destId="{3E146216-9822-1444-B421-EF4EE9791884}" srcOrd="0" destOrd="0" presId="urn:microsoft.com/office/officeart/2005/8/layout/chevron2"/>
    <dgm:cxn modelId="{C7E114ED-2BC8-E047-A725-A6015E5DB00A}" type="presParOf" srcId="{44D8DF64-DE6C-0D40-8BE5-04E547BAA120}" destId="{48EA42D6-D51F-494A-B160-FCDD73A4F16E}" srcOrd="1" destOrd="0" presId="urn:microsoft.com/office/officeart/2005/8/layout/chevron2"/>
    <dgm:cxn modelId="{905F421A-C393-0149-96AC-FACCCF862563}" type="presParOf" srcId="{E933E12F-E20A-CF49-9CC0-1F9FEAA450EA}" destId="{5B9EF251-71FC-4340-B8A6-1B6EDA26A9F7}" srcOrd="3" destOrd="0" presId="urn:microsoft.com/office/officeart/2005/8/layout/chevron2"/>
    <dgm:cxn modelId="{E5FA8A30-970A-B048-9BC5-BE6BCF4C2ACB}" type="presParOf" srcId="{E933E12F-E20A-CF49-9CC0-1F9FEAA450EA}" destId="{F28D73B6-C45F-3A42-8085-71C20630587D}" srcOrd="4" destOrd="0" presId="urn:microsoft.com/office/officeart/2005/8/layout/chevron2"/>
    <dgm:cxn modelId="{0AD8BDAE-2B43-B14F-A855-1DEEA72A5973}" type="presParOf" srcId="{F28D73B6-C45F-3A42-8085-71C20630587D}" destId="{4C23AAAE-6747-D040-B167-73C505734969}" srcOrd="0" destOrd="0" presId="urn:microsoft.com/office/officeart/2005/8/layout/chevron2"/>
    <dgm:cxn modelId="{8591B81A-8D39-FE4C-9B8B-C05650C04C65}" type="presParOf" srcId="{F28D73B6-C45F-3A42-8085-71C20630587D}" destId="{DB316645-C25A-2341-A0D3-8856E590790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0.xml><?xml version="1.0" encoding="utf-8"?>
<dgm:dataModel xmlns:dgm="http://schemas.openxmlformats.org/drawingml/2006/diagram" xmlns:a="http://schemas.openxmlformats.org/drawingml/2006/main">
  <dgm:ptLst>
    <dgm:pt modelId="{7A255A3C-2578-164D-89B5-FAFD759BF848}" type="doc">
      <dgm:prSet loTypeId="urn:microsoft.com/office/officeart/2005/8/layout/chevron2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1E0DEE5-4859-364B-8405-E6645DAC88AA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Whole blood processing</a:t>
          </a:r>
        </a:p>
      </dgm:t>
    </dgm:pt>
    <dgm:pt modelId="{53804852-9195-7041-9A65-88CE611BDE91}" type="parTrans" cxnId="{6A754B31-8647-0545-A4D1-4905247E8C0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94E9CE-1E65-8A45-A292-ACEE343B73D6}" type="sibTrans" cxnId="{6A754B31-8647-0545-A4D1-4905247E8C0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D690B6-A11A-9942-913F-478AE65900A9}">
      <dgm:prSet phldrT="[Text]" custT="1"/>
      <dgm:spPr/>
      <dgm:t>
        <a:bodyPr/>
        <a:lstStyle/>
        <a:p>
          <a:r>
            <a:rPr lang="en-US" sz="3000" dirty="0">
              <a:latin typeface="Arial" panose="020B0604020202020204" pitchFamily="34" charset="0"/>
              <a:cs typeface="Arial" panose="020B0604020202020204" pitchFamily="34" charset="0"/>
            </a:rPr>
            <a:t>Blood from healthy donor withdrawn</a:t>
          </a:r>
        </a:p>
      </dgm:t>
    </dgm:pt>
    <dgm:pt modelId="{45E25E6E-94A8-914E-9127-4FACC8A0E56D}" type="parTrans" cxnId="{8C0D9F29-D272-6844-B022-860A6C97C4B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BFCC3F-B390-7B4D-9B26-824922CF5A17}" type="sibTrans" cxnId="{8C0D9F29-D272-6844-B022-860A6C97C4B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4105D6-EDB0-D140-84D4-AD6044DB599A}">
      <dgm:prSet phldrT="[Text]" custT="1"/>
      <dgm:spPr/>
      <dgm:t>
        <a:bodyPr/>
        <a:lstStyle/>
        <a:p>
          <a:r>
            <a:rPr lang="en-US" sz="3000" dirty="0">
              <a:latin typeface="Arial" panose="020B0604020202020204" pitchFamily="34" charset="0"/>
              <a:cs typeface="Arial" panose="020B0604020202020204" pitchFamily="34" charset="0"/>
            </a:rPr>
            <a:t>Whole blood used for the assay</a:t>
          </a:r>
        </a:p>
      </dgm:t>
    </dgm:pt>
    <dgm:pt modelId="{08C686A8-6AFC-714B-BDAD-F272DE839EB0}" type="parTrans" cxnId="{4F251760-1FC3-164A-A84A-D89C952DBCF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BAF1F1-24A6-ED46-8E9D-A68E8D98C391}" type="sibTrans" cxnId="{4F251760-1FC3-164A-A84A-D89C952DBCF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DCA7D3-6251-FF4B-B251-A90E2B9A0E7C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Compound </a:t>
          </a: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treatment</a:t>
          </a: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and cytokine induction</a:t>
          </a:r>
        </a:p>
      </dgm:t>
    </dgm:pt>
    <dgm:pt modelId="{F7590F8E-56C0-8B45-8447-9A9F69D689B5}" type="parTrans" cxnId="{5CD24443-973B-2246-8A39-34EDB9A933CF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B774B3-D6CC-044F-A8DE-5336C608DD85}" type="sibTrans" cxnId="{5CD24443-973B-2246-8A39-34EDB9A933CF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7E4A0E-AEBE-774E-90C8-06F19D818081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Analysis</a:t>
          </a:r>
        </a:p>
      </dgm:t>
    </dgm:pt>
    <dgm:pt modelId="{28616E57-5C64-184F-80BF-F0BD06498FBC}" type="parTrans" cxnId="{3C71F924-04DB-8046-912D-0D2F422F1E0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EEF4EA-B24F-3445-AF84-EEFA4CA431D5}" type="sibTrans" cxnId="{3C71F924-04DB-8046-912D-0D2F422F1E0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3A0187-BBDF-234E-B8B7-9BBACFD632EA}">
      <dgm:prSet phldrT="[Text]" custT="1"/>
      <dgm:spPr>
        <a:blipFill>
          <a:blip xmlns:r="http://schemas.openxmlformats.org/officeDocument/2006/relationships" r:embed="rId1"/>
          <a:stretch>
            <a:fillRect b="-1149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8CA74B0-AE25-9C40-B472-829D18D101CC}" type="parTrans" cxnId="{8B55BDA7-05CA-5B48-B815-977C08CCE17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646BBD-CB6C-7C40-B00C-B1EDB9A89F7B}" type="sibTrans" cxnId="{8B55BDA7-05CA-5B48-B815-977C08CCE17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E9DA77-F40B-A74C-92E6-6812D9D67190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80104097-8E3E-9841-9190-DAF5435E15C6}" type="parTrans" cxnId="{EFCE335D-9BE8-C242-BBFE-55A94F48F3C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AE6D53-3334-6149-B299-9EBF2973896B}" type="sibTrans" cxnId="{EFCE335D-9BE8-C242-BBFE-55A94F48F3C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95AE18-56D7-2D4C-B88D-36F9A7AE3F33}">
      <dgm:prSet phldrT="[Text]" custT="1"/>
      <dgm:spPr>
        <a:blipFill>
          <a:blip xmlns:r="http://schemas.openxmlformats.org/officeDocument/2006/relationships" r:embed="rId2"/>
          <a:stretch>
            <a:fillRect l="-66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B2D11957-336C-7746-8A6C-C34D432D4BDE}" type="sibTrans" cxnId="{B380489D-C650-944B-9388-0FA979B3F0E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E38712-9DC3-E242-B445-0BF4C35A2A28}" type="parTrans" cxnId="{B380489D-C650-944B-9388-0FA979B3F0E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1B8011-DF7B-6447-900B-331903A2EC25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8B4666D3-C2F0-8A45-A19C-19CAF5669B2D}" type="sibTrans" cxnId="{B1AD0798-ED1F-F748-A5E7-EBD49A7C975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11A60F-4F43-5F47-9A40-12441921E053}" type="parTrans" cxnId="{B1AD0798-ED1F-F748-A5E7-EBD49A7C9750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1C8F9D-77E6-45DA-8032-8B9AA4B75D63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596E15C-0FD8-4A10-98C8-BB0C6703BAC1}" type="parTrans" cxnId="{F1CF0E1A-F52C-46A0-90C0-BD1D23253941}">
      <dgm:prSet/>
      <dgm:spPr/>
      <dgm:t>
        <a:bodyPr/>
        <a:lstStyle/>
        <a:p>
          <a:endParaRPr lang="en-US"/>
        </a:p>
      </dgm:t>
    </dgm:pt>
    <dgm:pt modelId="{0ADC58B3-1807-4159-9031-7EE109BA7805}" type="sibTrans" cxnId="{F1CF0E1A-F52C-46A0-90C0-BD1D23253941}">
      <dgm:prSet/>
      <dgm:spPr/>
      <dgm:t>
        <a:bodyPr/>
        <a:lstStyle/>
        <a:p>
          <a:endParaRPr lang="en-US"/>
        </a:p>
      </dgm:t>
    </dgm:pt>
    <dgm:pt modelId="{BD66903B-C945-4B3D-8B53-D2032B7B0308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D151F62-2C47-40B1-84D3-58973094B1CA}" type="parTrans" cxnId="{922A9828-471D-4EF5-94ED-C09BDC9014AD}">
      <dgm:prSet/>
      <dgm:spPr/>
      <dgm:t>
        <a:bodyPr/>
        <a:lstStyle/>
        <a:p>
          <a:endParaRPr lang="en-US"/>
        </a:p>
      </dgm:t>
    </dgm:pt>
    <dgm:pt modelId="{1F823901-8FE6-4EE4-9A01-5D4B0E7B90FB}" type="sibTrans" cxnId="{922A9828-471D-4EF5-94ED-C09BDC9014AD}">
      <dgm:prSet/>
      <dgm:spPr/>
      <dgm:t>
        <a:bodyPr/>
        <a:lstStyle/>
        <a:p>
          <a:endParaRPr lang="en-US"/>
        </a:p>
      </dgm:t>
    </dgm:pt>
    <dgm:pt modelId="{E933E12F-E20A-CF49-9CC0-1F9FEAA450EA}" type="pres">
      <dgm:prSet presAssocID="{7A255A3C-2578-164D-89B5-FAFD759BF848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64CCE51-A3D1-FE4C-978C-BE4169576A2A}" type="pres">
      <dgm:prSet presAssocID="{41E0DEE5-4859-364B-8405-E6645DAC88AA}" presName="composite" presStyleCnt="0"/>
      <dgm:spPr/>
    </dgm:pt>
    <dgm:pt modelId="{E404070A-C7BF-854D-A1F5-A565D0164D97}" type="pres">
      <dgm:prSet presAssocID="{41E0DEE5-4859-364B-8405-E6645DAC88AA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3E168E-6CB1-C74B-89C9-4F44CAE79F14}" type="pres">
      <dgm:prSet presAssocID="{41E0DEE5-4859-364B-8405-E6645DAC88AA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B7CAB5-F9E9-4844-948B-BCDD47F61F52}" type="pres">
      <dgm:prSet presAssocID="{4A94E9CE-1E65-8A45-A292-ACEE343B73D6}" presName="sp" presStyleCnt="0"/>
      <dgm:spPr/>
    </dgm:pt>
    <dgm:pt modelId="{44D8DF64-DE6C-0D40-8BE5-04E547BAA120}" type="pres">
      <dgm:prSet presAssocID="{C9DCA7D3-6251-FF4B-B251-A90E2B9A0E7C}" presName="composite" presStyleCnt="0"/>
      <dgm:spPr/>
    </dgm:pt>
    <dgm:pt modelId="{3E146216-9822-1444-B421-EF4EE9791884}" type="pres">
      <dgm:prSet presAssocID="{C9DCA7D3-6251-FF4B-B251-A90E2B9A0E7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EA42D6-D51F-494A-B160-FCDD73A4F16E}" type="pres">
      <dgm:prSet presAssocID="{C9DCA7D3-6251-FF4B-B251-A90E2B9A0E7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9EF251-71FC-4340-B8A6-1B6EDA26A9F7}" type="pres">
      <dgm:prSet presAssocID="{30B774B3-D6CC-044F-A8DE-5336C608DD85}" presName="sp" presStyleCnt="0"/>
      <dgm:spPr/>
    </dgm:pt>
    <dgm:pt modelId="{F28D73B6-C45F-3A42-8085-71C20630587D}" type="pres">
      <dgm:prSet presAssocID="{907E4A0E-AEBE-774E-90C8-06F19D818081}" presName="composite" presStyleCnt="0"/>
      <dgm:spPr/>
    </dgm:pt>
    <dgm:pt modelId="{4C23AAAE-6747-D040-B167-73C505734969}" type="pres">
      <dgm:prSet presAssocID="{907E4A0E-AEBE-774E-90C8-06F19D818081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316645-C25A-2341-A0D3-8856E5907906}" type="pres">
      <dgm:prSet presAssocID="{907E4A0E-AEBE-774E-90C8-06F19D818081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66CFAEB-509A-4973-AB5E-E05288BCA7E1}" type="presOf" srcId="{BD66903B-C945-4B3D-8B53-D2032B7B0308}" destId="{DB316645-C25A-2341-A0D3-8856E5907906}" srcOrd="0" destOrd="2" presId="urn:microsoft.com/office/officeart/2005/8/layout/chevron2"/>
    <dgm:cxn modelId="{92A31AE3-5539-E446-B7CB-471FB8D126D8}" type="presOf" srcId="{41E0DEE5-4859-364B-8405-E6645DAC88AA}" destId="{E404070A-C7BF-854D-A1F5-A565D0164D97}" srcOrd="0" destOrd="0" presId="urn:microsoft.com/office/officeart/2005/8/layout/chevron2"/>
    <dgm:cxn modelId="{8B55BDA7-05CA-5B48-B815-977C08CCE177}" srcId="{907E4A0E-AEBE-774E-90C8-06F19D818081}" destId="{EE3A0187-BBDF-234E-B8B7-9BBACFD632EA}" srcOrd="0" destOrd="0" parTransId="{88CA74B0-AE25-9C40-B472-829D18D101CC}" sibTransId="{39646BBD-CB6C-7C40-B00C-B1EDB9A89F7B}"/>
    <dgm:cxn modelId="{6EAA6D51-A126-9A48-80DB-6D75D4735FC8}" type="presOf" srcId="{7A255A3C-2578-164D-89B5-FAFD759BF848}" destId="{E933E12F-E20A-CF49-9CC0-1F9FEAA450EA}" srcOrd="0" destOrd="0" presId="urn:microsoft.com/office/officeart/2005/8/layout/chevron2"/>
    <dgm:cxn modelId="{BB1A6A97-2514-154F-B71B-E8D697DC7737}" type="presOf" srcId="{86D690B6-A11A-9942-913F-478AE65900A9}" destId="{FF3E168E-6CB1-C74B-89C9-4F44CAE79F14}" srcOrd="0" destOrd="0" presId="urn:microsoft.com/office/officeart/2005/8/layout/chevron2"/>
    <dgm:cxn modelId="{AD723FA2-2865-469C-AEAE-BDE4A4A9C428}" type="presOf" srcId="{361C8F9D-77E6-45DA-8032-8B9AA4B75D63}" destId="{48EA42D6-D51F-494A-B160-FCDD73A4F16E}" srcOrd="0" destOrd="2" presId="urn:microsoft.com/office/officeart/2005/8/layout/chevron2"/>
    <dgm:cxn modelId="{F1CF0E1A-F52C-46A0-90C0-BD1D23253941}" srcId="{C9DCA7D3-6251-FF4B-B251-A90E2B9A0E7C}" destId="{361C8F9D-77E6-45DA-8032-8B9AA4B75D63}" srcOrd="2" destOrd="0" parTransId="{5596E15C-0FD8-4A10-98C8-BB0C6703BAC1}" sibTransId="{0ADC58B3-1807-4159-9031-7EE109BA7805}"/>
    <dgm:cxn modelId="{B1AD0798-ED1F-F748-A5E7-EBD49A7C9750}" srcId="{C9DCA7D3-6251-FF4B-B251-A90E2B9A0E7C}" destId="{4A1B8011-DF7B-6447-900B-331903A2EC25}" srcOrd="1" destOrd="0" parTransId="{8111A60F-4F43-5F47-9A40-12441921E053}" sibTransId="{8B4666D3-C2F0-8A45-A19C-19CAF5669B2D}"/>
    <dgm:cxn modelId="{EFCE335D-9BE8-C242-BBFE-55A94F48F3C4}" srcId="{907E4A0E-AEBE-774E-90C8-06F19D818081}" destId="{24E9DA77-F40B-A74C-92E6-6812D9D67190}" srcOrd="1" destOrd="0" parTransId="{80104097-8E3E-9841-9190-DAF5435E15C6}" sibTransId="{9CAE6D53-3334-6149-B299-9EBF2973896B}"/>
    <dgm:cxn modelId="{87D4A6F4-ADCC-EE45-A561-CF46154A384C}" type="presOf" srcId="{D34105D6-EDB0-D140-84D4-AD6044DB599A}" destId="{FF3E168E-6CB1-C74B-89C9-4F44CAE79F14}" srcOrd="0" destOrd="1" presId="urn:microsoft.com/office/officeart/2005/8/layout/chevron2"/>
    <dgm:cxn modelId="{922A9828-471D-4EF5-94ED-C09BDC9014AD}" srcId="{907E4A0E-AEBE-774E-90C8-06F19D818081}" destId="{BD66903B-C945-4B3D-8B53-D2032B7B0308}" srcOrd="2" destOrd="0" parTransId="{2D151F62-2C47-40B1-84D3-58973094B1CA}" sibTransId="{1F823901-8FE6-4EE4-9A01-5D4B0E7B90FB}"/>
    <dgm:cxn modelId="{CFC9AF18-6A47-8744-9080-D3599BB211DF}" type="presOf" srcId="{EE3A0187-BBDF-234E-B8B7-9BBACFD632EA}" destId="{DB316645-C25A-2341-A0D3-8856E5907906}" srcOrd="0" destOrd="0" presId="urn:microsoft.com/office/officeart/2005/8/layout/chevron2"/>
    <dgm:cxn modelId="{3C71F924-04DB-8046-912D-0D2F422F1E04}" srcId="{7A255A3C-2578-164D-89B5-FAFD759BF848}" destId="{907E4A0E-AEBE-774E-90C8-06F19D818081}" srcOrd="2" destOrd="0" parTransId="{28616E57-5C64-184F-80BF-F0BD06498FBC}" sibTransId="{90EEF4EA-B24F-3445-AF84-EEFA4CA431D5}"/>
    <dgm:cxn modelId="{2AB2636C-67E9-BE4B-8B35-4A5C6B6B70FE}" type="presOf" srcId="{907E4A0E-AEBE-774E-90C8-06F19D818081}" destId="{4C23AAAE-6747-D040-B167-73C505734969}" srcOrd="0" destOrd="0" presId="urn:microsoft.com/office/officeart/2005/8/layout/chevron2"/>
    <dgm:cxn modelId="{6745C090-6669-B841-966A-25FCAD4A411D}" type="presOf" srcId="{C9DCA7D3-6251-FF4B-B251-A90E2B9A0E7C}" destId="{3E146216-9822-1444-B421-EF4EE9791884}" srcOrd="0" destOrd="0" presId="urn:microsoft.com/office/officeart/2005/8/layout/chevron2"/>
    <dgm:cxn modelId="{8C0D9F29-D272-6844-B022-860A6C97C4B2}" srcId="{41E0DEE5-4859-364B-8405-E6645DAC88AA}" destId="{86D690B6-A11A-9942-913F-478AE65900A9}" srcOrd="0" destOrd="0" parTransId="{45E25E6E-94A8-914E-9127-4FACC8A0E56D}" sibTransId="{D7BFCC3F-B390-7B4D-9B26-824922CF5A17}"/>
    <dgm:cxn modelId="{D7C17056-9170-BE47-B8F9-E1F3ED0536D5}" type="presOf" srcId="{4A1B8011-DF7B-6447-900B-331903A2EC25}" destId="{48EA42D6-D51F-494A-B160-FCDD73A4F16E}" srcOrd="0" destOrd="1" presId="urn:microsoft.com/office/officeart/2005/8/layout/chevron2"/>
    <dgm:cxn modelId="{7BD50125-EBA5-EC4D-99B2-678FB7EF0FD4}" type="presOf" srcId="{24E9DA77-F40B-A74C-92E6-6812D9D67190}" destId="{DB316645-C25A-2341-A0D3-8856E5907906}" srcOrd="0" destOrd="1" presId="urn:microsoft.com/office/officeart/2005/8/layout/chevron2"/>
    <dgm:cxn modelId="{0B8FC6A1-E529-0444-867C-4FA731DE3F12}" type="presOf" srcId="{E795AE18-56D7-2D4C-B88D-36F9A7AE3F33}" destId="{48EA42D6-D51F-494A-B160-FCDD73A4F16E}" srcOrd="0" destOrd="0" presId="urn:microsoft.com/office/officeart/2005/8/layout/chevron2"/>
    <dgm:cxn modelId="{5CD24443-973B-2246-8A39-34EDB9A933CF}" srcId="{7A255A3C-2578-164D-89B5-FAFD759BF848}" destId="{C9DCA7D3-6251-FF4B-B251-A90E2B9A0E7C}" srcOrd="1" destOrd="0" parTransId="{F7590F8E-56C0-8B45-8447-9A9F69D689B5}" sibTransId="{30B774B3-D6CC-044F-A8DE-5336C608DD85}"/>
    <dgm:cxn modelId="{6A754B31-8647-0545-A4D1-4905247E8C0A}" srcId="{7A255A3C-2578-164D-89B5-FAFD759BF848}" destId="{41E0DEE5-4859-364B-8405-E6645DAC88AA}" srcOrd="0" destOrd="0" parTransId="{53804852-9195-7041-9A65-88CE611BDE91}" sibTransId="{4A94E9CE-1E65-8A45-A292-ACEE343B73D6}"/>
    <dgm:cxn modelId="{4F251760-1FC3-164A-A84A-D89C952DBCF9}" srcId="{41E0DEE5-4859-364B-8405-E6645DAC88AA}" destId="{D34105D6-EDB0-D140-84D4-AD6044DB599A}" srcOrd="1" destOrd="0" parTransId="{08C686A8-6AFC-714B-BDAD-F272DE839EB0}" sibTransId="{C7BAF1F1-24A6-ED46-8E9D-A68E8D98C391}"/>
    <dgm:cxn modelId="{B380489D-C650-944B-9388-0FA979B3F0EE}" srcId="{C9DCA7D3-6251-FF4B-B251-A90E2B9A0E7C}" destId="{E795AE18-56D7-2D4C-B88D-36F9A7AE3F33}" srcOrd="0" destOrd="0" parTransId="{60E38712-9DC3-E242-B445-0BF4C35A2A28}" sibTransId="{B2D11957-336C-7746-8A6C-C34D432D4BDE}"/>
    <dgm:cxn modelId="{60B3457D-DF7C-B741-AFA0-DB6E47B1B48C}" type="presParOf" srcId="{E933E12F-E20A-CF49-9CC0-1F9FEAA450EA}" destId="{F64CCE51-A3D1-FE4C-978C-BE4169576A2A}" srcOrd="0" destOrd="0" presId="urn:microsoft.com/office/officeart/2005/8/layout/chevron2"/>
    <dgm:cxn modelId="{95827295-1D3E-8D47-B1EF-CC518A172314}" type="presParOf" srcId="{F64CCE51-A3D1-FE4C-978C-BE4169576A2A}" destId="{E404070A-C7BF-854D-A1F5-A565D0164D97}" srcOrd="0" destOrd="0" presId="urn:microsoft.com/office/officeart/2005/8/layout/chevron2"/>
    <dgm:cxn modelId="{2EEA721C-2F4F-4E43-9DC6-E14B04B798EE}" type="presParOf" srcId="{F64CCE51-A3D1-FE4C-978C-BE4169576A2A}" destId="{FF3E168E-6CB1-C74B-89C9-4F44CAE79F14}" srcOrd="1" destOrd="0" presId="urn:microsoft.com/office/officeart/2005/8/layout/chevron2"/>
    <dgm:cxn modelId="{F29E5FDD-17D7-B54C-AA8F-18CACA80A205}" type="presParOf" srcId="{E933E12F-E20A-CF49-9CC0-1F9FEAA450EA}" destId="{5BB7CAB5-F9E9-4844-948B-BCDD47F61F52}" srcOrd="1" destOrd="0" presId="urn:microsoft.com/office/officeart/2005/8/layout/chevron2"/>
    <dgm:cxn modelId="{DF096BF9-0D15-B244-BD3A-533EA1545147}" type="presParOf" srcId="{E933E12F-E20A-CF49-9CC0-1F9FEAA450EA}" destId="{44D8DF64-DE6C-0D40-8BE5-04E547BAA120}" srcOrd="2" destOrd="0" presId="urn:microsoft.com/office/officeart/2005/8/layout/chevron2"/>
    <dgm:cxn modelId="{0083A8CD-4DDD-994F-86DD-C8C63EAB65DF}" type="presParOf" srcId="{44D8DF64-DE6C-0D40-8BE5-04E547BAA120}" destId="{3E146216-9822-1444-B421-EF4EE9791884}" srcOrd="0" destOrd="0" presId="urn:microsoft.com/office/officeart/2005/8/layout/chevron2"/>
    <dgm:cxn modelId="{C7E114ED-2BC8-E047-A725-A6015E5DB00A}" type="presParOf" srcId="{44D8DF64-DE6C-0D40-8BE5-04E547BAA120}" destId="{48EA42D6-D51F-494A-B160-FCDD73A4F16E}" srcOrd="1" destOrd="0" presId="urn:microsoft.com/office/officeart/2005/8/layout/chevron2"/>
    <dgm:cxn modelId="{905F421A-C393-0149-96AC-FACCCF862563}" type="presParOf" srcId="{E933E12F-E20A-CF49-9CC0-1F9FEAA450EA}" destId="{5B9EF251-71FC-4340-B8A6-1B6EDA26A9F7}" srcOrd="3" destOrd="0" presId="urn:microsoft.com/office/officeart/2005/8/layout/chevron2"/>
    <dgm:cxn modelId="{E5FA8A30-970A-B048-9BC5-BE6BCF4C2ACB}" type="presParOf" srcId="{E933E12F-E20A-CF49-9CC0-1F9FEAA450EA}" destId="{F28D73B6-C45F-3A42-8085-71C20630587D}" srcOrd="4" destOrd="0" presId="urn:microsoft.com/office/officeart/2005/8/layout/chevron2"/>
    <dgm:cxn modelId="{0AD8BDAE-2B43-B14F-A855-1DEEA72A5973}" type="presParOf" srcId="{F28D73B6-C45F-3A42-8085-71C20630587D}" destId="{4C23AAAE-6747-D040-B167-73C505734969}" srcOrd="0" destOrd="0" presId="urn:microsoft.com/office/officeart/2005/8/layout/chevron2"/>
    <dgm:cxn modelId="{8591B81A-8D39-FE4C-9B8B-C05650C04C65}" type="presParOf" srcId="{F28D73B6-C45F-3A42-8085-71C20630587D}" destId="{DB316645-C25A-2341-A0D3-8856E590790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133290"/>
          <a:ext cx="7908165" cy="1273947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 cells in 40µL of growth media with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; 250, 500 &amp; 1000 cells/well</a:t>
          </a:r>
          <a:r>
            <a:rPr lang="en-IN" sz="2000" b="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313" y="170603"/>
        <a:ext cx="7833539" cy="1199321"/>
      </dsp:txXfrm>
    </dsp:sp>
    <dsp:sp modelId="{67244932-2C78-44B6-9B30-4946AAA6EC1E}">
      <dsp:nvSpPr>
        <dsp:cNvPr id="0" name=""/>
        <dsp:cNvSpPr/>
      </dsp:nvSpPr>
      <dsp:spPr>
        <a:xfrm rot="5400000">
          <a:off x="3401733" y="1590393"/>
          <a:ext cx="874676" cy="9163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564175" y="1611216"/>
        <a:ext cx="549792" cy="612273"/>
      </dsp:txXfrm>
    </dsp:sp>
    <dsp:sp modelId="{67BBB799-AB9D-40D7-8C31-8D1EEA94AA2B}">
      <dsp:nvSpPr>
        <dsp:cNvPr id="0" name=""/>
        <dsp:cNvSpPr/>
      </dsp:nvSpPr>
      <dsp:spPr>
        <a:xfrm>
          <a:off x="0" y="2511010"/>
          <a:ext cx="7908165" cy="101572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Treat with 10 µL of 5X compound stock. Final DMSO - 0.5%  </a:t>
          </a:r>
        </a:p>
      </dsp:txBody>
      <dsp:txXfrm>
        <a:off x="29750" y="2540760"/>
        <a:ext cx="7848665" cy="956226"/>
      </dsp:txXfrm>
    </dsp:sp>
    <dsp:sp modelId="{864ECC52-85C1-4034-B8C1-CC6E4BE6EBDE}">
      <dsp:nvSpPr>
        <dsp:cNvPr id="0" name=""/>
        <dsp:cNvSpPr/>
      </dsp:nvSpPr>
      <dsp:spPr>
        <a:xfrm rot="5400000">
          <a:off x="3391293" y="3687613"/>
          <a:ext cx="874669" cy="9163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553732" y="3708439"/>
        <a:ext cx="549792" cy="612268"/>
      </dsp:txXfrm>
    </dsp:sp>
    <dsp:sp modelId="{0CB13BE0-38DA-43E0-ADEA-ACF334EAF426}">
      <dsp:nvSpPr>
        <dsp:cNvPr id="0" name=""/>
        <dsp:cNvSpPr/>
      </dsp:nvSpPr>
      <dsp:spPr>
        <a:xfrm>
          <a:off x="0" y="4760943"/>
          <a:ext cx="7908165" cy="1454289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Termination- Add equal volume of CTG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(50 µL), incubate at RT for 10 mins. Read</a:t>
          </a:r>
          <a:r>
            <a:rPr lang="en-US" sz="2000" b="0" kern="120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on Envision plate reader</a:t>
          </a:r>
          <a:r>
            <a:rPr lang="en-US" sz="2000" b="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595" y="4803538"/>
        <a:ext cx="7822975" cy="13690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133290"/>
          <a:ext cx="7908165" cy="1273947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 cells in 30µL of growth media; 1000 cells/well</a:t>
          </a:r>
          <a:r>
            <a:rPr lang="en-IN" sz="2000" b="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313" y="170603"/>
        <a:ext cx="7833539" cy="1199321"/>
      </dsp:txXfrm>
    </dsp:sp>
    <dsp:sp modelId="{67244932-2C78-44B6-9B30-4946AAA6EC1E}">
      <dsp:nvSpPr>
        <dsp:cNvPr id="0" name=""/>
        <dsp:cNvSpPr/>
      </dsp:nvSpPr>
      <dsp:spPr>
        <a:xfrm rot="5400000">
          <a:off x="3401733" y="1590393"/>
          <a:ext cx="874676" cy="9163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564175" y="1611216"/>
        <a:ext cx="549792" cy="612273"/>
      </dsp:txXfrm>
    </dsp:sp>
    <dsp:sp modelId="{67BBB799-AB9D-40D7-8C31-8D1EEA94AA2B}">
      <dsp:nvSpPr>
        <dsp:cNvPr id="0" name=""/>
        <dsp:cNvSpPr/>
      </dsp:nvSpPr>
      <dsp:spPr>
        <a:xfrm>
          <a:off x="0" y="2511010"/>
          <a:ext cx="7908165" cy="101572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Treat with 10 µL of 4X compound stock.   </a:t>
          </a:r>
        </a:p>
      </dsp:txBody>
      <dsp:txXfrm>
        <a:off x="29750" y="2540760"/>
        <a:ext cx="7848665" cy="956226"/>
      </dsp:txXfrm>
    </dsp:sp>
    <dsp:sp modelId="{864ECC52-85C1-4034-B8C1-CC6E4BE6EBDE}">
      <dsp:nvSpPr>
        <dsp:cNvPr id="0" name=""/>
        <dsp:cNvSpPr/>
      </dsp:nvSpPr>
      <dsp:spPr>
        <a:xfrm rot="5400000">
          <a:off x="3391293" y="3687613"/>
          <a:ext cx="874669" cy="9163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553732" y="3708439"/>
        <a:ext cx="549792" cy="612268"/>
      </dsp:txXfrm>
    </dsp:sp>
    <dsp:sp modelId="{0CB13BE0-38DA-43E0-ADEA-ACF334EAF426}">
      <dsp:nvSpPr>
        <dsp:cNvPr id="0" name=""/>
        <dsp:cNvSpPr/>
      </dsp:nvSpPr>
      <dsp:spPr>
        <a:xfrm>
          <a:off x="0" y="4760943"/>
          <a:ext cx="7908165" cy="1454289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Termination- Add 40 µl of 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HiBiT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lytic reagent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incubate at RT for 10 mins. Read</a:t>
          </a:r>
          <a:r>
            <a:rPr lang="en-US" sz="2000" b="0" kern="120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luminescence on VictorX5 plate reader</a:t>
          </a:r>
          <a:r>
            <a:rPr lang="en-US" sz="2000" b="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595" y="4803538"/>
        <a:ext cx="7822975" cy="13690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76603"/>
          <a:ext cx="7824361" cy="1904897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Day 1- </a:t>
          </a:r>
          <a:r>
            <a: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Cell density – 0.2 x 10</a:t>
          </a:r>
          <a:r>
            <a:rPr kumimoji="0" lang="en-IN" sz="2000" b="0" i="0" u="none" strike="noStrike" kern="1200" cap="none" spc="0" normalizeH="0" baseline="30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6</a:t>
          </a:r>
          <a:r>
            <a: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 /ml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Target Vector: Carrier DNA – 1:9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(Target Vector: Carrier DNA) : </a:t>
          </a:r>
          <a:r>
            <a:rPr kumimoji="0" lang="en-IN" sz="2000" b="0" i="0" u="none" strike="noStrike" kern="1200" cap="none" spc="0" normalizeH="0" baseline="0" noProof="0" dirty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FuGENE</a:t>
          </a:r>
          <a:r>
            <a: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rPr>
            <a:t> – 1:3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IN" sz="2000" b="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Seed transfected cells in 96 well solid white plate</a:t>
          </a:r>
          <a:endParaRPr lang="en-IN" sz="2000" b="1" kern="1200" dirty="0">
            <a:solidFill>
              <a:srgbClr val="FF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793" y="132396"/>
        <a:ext cx="7712775" cy="1793311"/>
      </dsp:txXfrm>
    </dsp:sp>
    <dsp:sp modelId="{67244932-2C78-44B6-9B30-4946AAA6EC1E}">
      <dsp:nvSpPr>
        <dsp:cNvPr id="0" name=""/>
        <dsp:cNvSpPr/>
      </dsp:nvSpPr>
      <dsp:spPr>
        <a:xfrm rot="5400000">
          <a:off x="3606458" y="2082876"/>
          <a:ext cx="484128" cy="5071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96369" y="2094401"/>
        <a:ext cx="304306" cy="338890"/>
      </dsp:txXfrm>
    </dsp:sp>
    <dsp:sp modelId="{67BBB799-AB9D-40D7-8C31-8D1EEA94AA2B}">
      <dsp:nvSpPr>
        <dsp:cNvPr id="0" name=""/>
        <dsp:cNvSpPr/>
      </dsp:nvSpPr>
      <dsp:spPr>
        <a:xfrm>
          <a:off x="0" y="2592433"/>
          <a:ext cx="7824361" cy="803493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Day 2: </a:t>
          </a:r>
          <a:r>
            <a: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Add Tracer + Test Compound </a:t>
          </a:r>
        </a:p>
      </dsp:txBody>
      <dsp:txXfrm>
        <a:off x="23534" y="2615967"/>
        <a:ext cx="7777293" cy="756425"/>
      </dsp:txXfrm>
    </dsp:sp>
    <dsp:sp modelId="{864ECC52-85C1-4034-B8C1-CC6E4BE6EBDE}">
      <dsp:nvSpPr>
        <dsp:cNvPr id="0" name=""/>
        <dsp:cNvSpPr/>
      </dsp:nvSpPr>
      <dsp:spPr>
        <a:xfrm rot="5400000">
          <a:off x="3600680" y="3484970"/>
          <a:ext cx="484124" cy="5071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90589" y="3496498"/>
        <a:ext cx="304306" cy="338887"/>
      </dsp:txXfrm>
    </dsp:sp>
    <dsp:sp modelId="{0CB13BE0-38DA-43E0-ADEA-ACF334EAF426}">
      <dsp:nvSpPr>
        <dsp:cNvPr id="0" name=""/>
        <dsp:cNvSpPr/>
      </dsp:nvSpPr>
      <dsp:spPr>
        <a:xfrm>
          <a:off x="0" y="4079052"/>
          <a:ext cx="7824361" cy="80494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Add </a:t>
          </a:r>
          <a:r>
            <a:rPr lang="en-US" sz="2000" kern="1200" dirty="0" err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NanoBRET</a:t>
          </a:r>
          <a:r>
            <a:rPr lang="en-US" sz="200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 substrate</a:t>
          </a: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576" y="4102628"/>
        <a:ext cx="7777209" cy="757789"/>
      </dsp:txXfrm>
    </dsp:sp>
    <dsp:sp modelId="{634936AA-6D46-44E5-ADBA-9F543A1B427F}">
      <dsp:nvSpPr>
        <dsp:cNvPr id="0" name=""/>
        <dsp:cNvSpPr/>
      </dsp:nvSpPr>
      <dsp:spPr>
        <a:xfrm rot="5400000">
          <a:off x="3656008" y="4918150"/>
          <a:ext cx="512344" cy="6148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27737" y="4969385"/>
        <a:ext cx="368887" cy="358641"/>
      </dsp:txXfrm>
    </dsp:sp>
    <dsp:sp modelId="{FF0E76F2-59B8-4BFD-8DB0-7B862CC0684B}">
      <dsp:nvSpPr>
        <dsp:cNvPr id="0" name=""/>
        <dsp:cNvSpPr/>
      </dsp:nvSpPr>
      <dsp:spPr>
        <a:xfrm>
          <a:off x="0" y="5567120"/>
          <a:ext cx="7824361" cy="1413060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Read plate in Envision Plate Reader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Donor Emission – 460 nm; Acceptor Emission – 610 nm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 representation - </a:t>
          </a:r>
          <a:r>
            <a:rPr lang="en-IN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NanoBRET</a:t>
          </a: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Ratio (Acceptor/Donor)</a:t>
          </a:r>
        </a:p>
      </dsp:txBody>
      <dsp:txXfrm>
        <a:off x="41387" y="5608507"/>
        <a:ext cx="7741587" cy="13302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88308"/>
          <a:ext cx="7824361" cy="1422733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smBiT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plasmid (10 µg) and 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lgBiT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plasmid (10 µg) were mixed in 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OptiMEM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medium (1000 µL) followed by addition of 60 ul of 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Fugene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HD Transfection. </a:t>
          </a: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670" y="129978"/>
        <a:ext cx="7741021" cy="1339393"/>
      </dsp:txXfrm>
    </dsp:sp>
    <dsp:sp modelId="{67244932-2C78-44B6-9B30-4946AAA6EC1E}">
      <dsp:nvSpPr>
        <dsp:cNvPr id="0" name=""/>
        <dsp:cNvSpPr/>
      </dsp:nvSpPr>
      <dsp:spPr>
        <a:xfrm rot="5400000">
          <a:off x="3543963" y="1633141"/>
          <a:ext cx="583093" cy="610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52253" y="1647022"/>
        <a:ext cx="366512" cy="408165"/>
      </dsp:txXfrm>
    </dsp:sp>
    <dsp:sp modelId="{67BBB799-AB9D-40D7-8C31-8D1EEA94AA2B}">
      <dsp:nvSpPr>
        <dsp:cNvPr id="0" name=""/>
        <dsp:cNvSpPr/>
      </dsp:nvSpPr>
      <dsp:spPr>
        <a:xfrm>
          <a:off x="0" y="2246860"/>
          <a:ext cx="7824361" cy="132423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Add HEK293 cells to the transfection mixture at the density </a:t>
          </a: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of 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10 million per 10 mL</a:t>
          </a: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. Seed 18.5 ul per well in 384 white plate.</a:t>
          </a:r>
          <a:endParaRPr kumimoji="0" lang="en-IN" sz="20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  <a:sym typeface="Helvetica Neue"/>
          </a:endParaRPr>
        </a:p>
      </dsp:txBody>
      <dsp:txXfrm>
        <a:off x="38785" y="2285645"/>
        <a:ext cx="7746791" cy="1246661"/>
      </dsp:txXfrm>
    </dsp:sp>
    <dsp:sp modelId="{864ECC52-85C1-4034-B8C1-CC6E4BE6EBDE}">
      <dsp:nvSpPr>
        <dsp:cNvPr id="0" name=""/>
        <dsp:cNvSpPr/>
      </dsp:nvSpPr>
      <dsp:spPr>
        <a:xfrm rot="5400000">
          <a:off x="3552074" y="3661812"/>
          <a:ext cx="559665" cy="610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48651" y="3687407"/>
        <a:ext cx="366512" cy="391766"/>
      </dsp:txXfrm>
    </dsp:sp>
    <dsp:sp modelId="{0CB13BE0-38DA-43E0-ADEA-ACF334EAF426}">
      <dsp:nvSpPr>
        <dsp:cNvPr id="0" name=""/>
        <dsp:cNvSpPr/>
      </dsp:nvSpPr>
      <dsp:spPr>
        <a:xfrm>
          <a:off x="0" y="4360810"/>
          <a:ext cx="7824361" cy="969485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rPr>
            <a:t>Add 2.5 ul of neddylation inhibitor (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MLN4924)</a:t>
          </a: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395" y="4389205"/>
        <a:ext cx="7767571" cy="912695"/>
      </dsp:txXfrm>
    </dsp:sp>
    <dsp:sp modelId="{634936AA-6D46-44E5-ADBA-9F543A1B427F}">
      <dsp:nvSpPr>
        <dsp:cNvPr id="0" name=""/>
        <dsp:cNvSpPr/>
      </dsp:nvSpPr>
      <dsp:spPr>
        <a:xfrm rot="5400000">
          <a:off x="3591247" y="5387960"/>
          <a:ext cx="641865" cy="740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90032" y="5437274"/>
        <a:ext cx="444296" cy="449306"/>
      </dsp:txXfrm>
    </dsp:sp>
    <dsp:sp modelId="{FF0E76F2-59B8-4BFD-8DB0-7B862CC0684B}">
      <dsp:nvSpPr>
        <dsp:cNvPr id="0" name=""/>
        <dsp:cNvSpPr/>
      </dsp:nvSpPr>
      <dsp:spPr>
        <a:xfrm>
          <a:off x="0" y="6186117"/>
          <a:ext cx="7824361" cy="797115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Add 3 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µ</a:t>
          </a: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l of  test compound and 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6 µL of 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NanoBiT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substrate and measure luminescence in Envision plate reader after 30 mins</a:t>
          </a: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 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347" y="6209464"/>
        <a:ext cx="7777667" cy="7504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82590"/>
          <a:ext cx="7824361" cy="669622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 6</a:t>
          </a:r>
          <a:r>
            <a:rPr lang="en-US" sz="2000" b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 X 10</a:t>
          </a:r>
          <a:r>
            <a:rPr lang="en-US" sz="2000" b="0" u="none" strike="noStrike" kern="1200" baseline="300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4</a:t>
          </a:r>
          <a:r>
            <a:rPr lang="en-US" sz="2000" b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THP1-HMGB1-Lucia cells in 96 well plate</a:t>
          </a:r>
        </a:p>
      </dsp:txBody>
      <dsp:txXfrm>
        <a:off x="19613" y="102203"/>
        <a:ext cx="7785135" cy="630396"/>
      </dsp:txXfrm>
    </dsp:sp>
    <dsp:sp modelId="{67244932-2C78-44B6-9B30-4946AAA6EC1E}">
      <dsp:nvSpPr>
        <dsp:cNvPr id="0" name=""/>
        <dsp:cNvSpPr/>
      </dsp:nvSpPr>
      <dsp:spPr>
        <a:xfrm rot="5400000">
          <a:off x="3588923" y="859403"/>
          <a:ext cx="511896" cy="5362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83991" y="871590"/>
        <a:ext cx="321760" cy="358327"/>
      </dsp:txXfrm>
    </dsp:sp>
    <dsp:sp modelId="{67BBB799-AB9D-40D7-8C31-8D1EEA94AA2B}">
      <dsp:nvSpPr>
        <dsp:cNvPr id="0" name=""/>
        <dsp:cNvSpPr/>
      </dsp:nvSpPr>
      <dsp:spPr>
        <a:xfrm>
          <a:off x="0" y="1398186"/>
          <a:ext cx="7824361" cy="1162540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Helvetica Neue"/>
            </a:rPr>
            <a:t>Add pan-caspase inhibitor, </a:t>
          </a:r>
          <a:r>
            <a:rPr lang="en-US" sz="2000" b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25 µM</a:t>
          </a:r>
          <a:r>
            <a:rPr lang="en-US" sz="2000" b="0" kern="1200" dirty="0">
              <a:solidFill>
                <a:schemeClr val="tx1"/>
              </a:solidFill>
              <a:latin typeface="Helvetica Neue"/>
            </a:rPr>
            <a:t>  of </a:t>
          </a:r>
          <a:r>
            <a:rPr lang="en-US" sz="2000" b="0" kern="1200" dirty="0" err="1">
              <a:solidFill>
                <a:schemeClr val="tx1"/>
              </a:solidFill>
              <a:latin typeface="Helvetica Neue"/>
            </a:rPr>
            <a:t>Zvad</a:t>
          </a:r>
          <a:r>
            <a:rPr lang="en-US" sz="2000" b="0" kern="1200" dirty="0">
              <a:solidFill>
                <a:schemeClr val="tx1"/>
              </a:solidFill>
              <a:latin typeface="Helvetica Neue"/>
            </a:rPr>
            <a:t>-FMK for 1 </a:t>
          </a:r>
          <a:r>
            <a:rPr lang="en-US" sz="2000" b="0" kern="1200" dirty="0" err="1">
              <a:solidFill>
                <a:schemeClr val="tx1"/>
              </a:solidFill>
              <a:latin typeface="Helvetica Neue"/>
            </a:rPr>
            <a:t>hr</a:t>
          </a:r>
          <a:r>
            <a:rPr lang="en-US" sz="2000" b="0" kern="1200" dirty="0">
              <a:solidFill>
                <a:schemeClr val="tx1"/>
              </a:solidFill>
              <a:latin typeface="Helvetica Neue"/>
            </a:rPr>
            <a:t> at 37</a:t>
          </a:r>
          <a:r>
            <a:rPr lang="en-US" sz="2000" b="0" kern="1200" baseline="30000" dirty="0">
              <a:solidFill>
                <a:schemeClr val="tx1"/>
              </a:solidFill>
              <a:latin typeface="Helvetica Neue"/>
            </a:rPr>
            <a:t>0</a:t>
          </a:r>
          <a:r>
            <a:rPr lang="en-US" sz="2000" b="0" kern="1200" dirty="0">
              <a:solidFill>
                <a:schemeClr val="tx1"/>
              </a:solidFill>
              <a:latin typeface="Helvetica Neue"/>
            </a:rPr>
            <a:t>C, 5% CO</a:t>
          </a:r>
          <a:r>
            <a:rPr lang="en-US" sz="2000" b="0" kern="1200" baseline="-25000" dirty="0">
              <a:solidFill>
                <a:schemeClr val="tx1"/>
              </a:solidFill>
              <a:latin typeface="Helvetica Neue"/>
            </a:rPr>
            <a:t>2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kumimoji="0" lang="en-IN" sz="20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  <a:sym typeface="Helvetica Neue"/>
          </a:endParaRPr>
        </a:p>
      </dsp:txBody>
      <dsp:txXfrm>
        <a:off x="34050" y="1432236"/>
        <a:ext cx="7756261" cy="1094440"/>
      </dsp:txXfrm>
    </dsp:sp>
    <dsp:sp modelId="{864ECC52-85C1-4034-B8C1-CC6E4BE6EBDE}">
      <dsp:nvSpPr>
        <dsp:cNvPr id="0" name=""/>
        <dsp:cNvSpPr/>
      </dsp:nvSpPr>
      <dsp:spPr>
        <a:xfrm rot="5400000">
          <a:off x="3596044" y="2640370"/>
          <a:ext cx="491329" cy="5362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80829" y="2662840"/>
        <a:ext cx="321760" cy="343930"/>
      </dsp:txXfrm>
    </dsp:sp>
    <dsp:sp modelId="{0CB13BE0-38DA-43E0-ADEA-ACF334EAF426}">
      <dsp:nvSpPr>
        <dsp:cNvPr id="0" name=""/>
        <dsp:cNvSpPr/>
      </dsp:nvSpPr>
      <dsp:spPr>
        <a:xfrm>
          <a:off x="0" y="3254019"/>
          <a:ext cx="7824361" cy="851110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Helvetica Neue"/>
            </a:rPr>
            <a:t>Add 100 ng/mL </a:t>
          </a:r>
          <a:r>
            <a:rPr lang="en-US" sz="2000" b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of </a:t>
          </a:r>
          <a:r>
            <a:rPr lang="en-US" sz="2000" b="0" kern="1200" dirty="0">
              <a:solidFill>
                <a:schemeClr val="tx1"/>
              </a:solidFill>
              <a:latin typeface="Helvetica Neue"/>
            </a:rPr>
            <a:t>TNF</a:t>
          </a:r>
          <a:r>
            <a:rPr lang="el-GR" sz="2000" b="0" kern="1200" dirty="0">
              <a:solidFill>
                <a:schemeClr val="tx1"/>
              </a:solidFill>
              <a:latin typeface="Helvetica Neue"/>
            </a:rPr>
            <a:t>α</a:t>
          </a:r>
          <a:r>
            <a:rPr lang="en-IN" sz="2000" b="0" kern="1200" dirty="0">
              <a:solidFill>
                <a:schemeClr val="tx1"/>
              </a:solidFill>
              <a:latin typeface="Helvetica Neue"/>
            </a:rPr>
            <a:t>, </a:t>
          </a:r>
          <a:r>
            <a:rPr lang="en-US" sz="2000" b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5 µM of </a:t>
          </a:r>
          <a:r>
            <a:rPr lang="en-IN" sz="2000" b="0" kern="1200" dirty="0">
              <a:solidFill>
                <a:schemeClr val="tx1"/>
              </a:solidFill>
              <a:latin typeface="Helvetica Neue"/>
            </a:rPr>
            <a:t>BV-6 and inhibitor compounds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928" y="3278947"/>
        <a:ext cx="7774505" cy="801254"/>
      </dsp:txXfrm>
    </dsp:sp>
    <dsp:sp modelId="{634936AA-6D46-44E5-ADBA-9F543A1B427F}">
      <dsp:nvSpPr>
        <dsp:cNvPr id="0" name=""/>
        <dsp:cNvSpPr/>
      </dsp:nvSpPr>
      <dsp:spPr>
        <a:xfrm rot="5400000">
          <a:off x="3630434" y="4155753"/>
          <a:ext cx="563492" cy="650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17156" y="4199046"/>
        <a:ext cx="390047" cy="394444"/>
      </dsp:txXfrm>
    </dsp:sp>
    <dsp:sp modelId="{FF0E76F2-59B8-4BFD-8DB0-7B862CC0684B}">
      <dsp:nvSpPr>
        <dsp:cNvPr id="0" name=""/>
        <dsp:cNvSpPr/>
      </dsp:nvSpPr>
      <dsp:spPr>
        <a:xfrm>
          <a:off x="0" y="4856453"/>
          <a:ext cx="7824361" cy="69978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Helvetica Neue"/>
            </a:rPr>
            <a:t>Collect 30 µl of cell culture supernatant  in 96 well Opti-plate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496" y="4876949"/>
        <a:ext cx="7783369" cy="658794"/>
      </dsp:txXfrm>
    </dsp:sp>
    <dsp:sp modelId="{48720768-7C85-4352-B217-09E3DCC98569}">
      <dsp:nvSpPr>
        <dsp:cNvPr id="0" name=""/>
        <dsp:cNvSpPr/>
      </dsp:nvSpPr>
      <dsp:spPr>
        <a:xfrm rot="5400000">
          <a:off x="3641314" y="5592355"/>
          <a:ext cx="541731" cy="650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17157" y="5646528"/>
        <a:ext cx="390047" cy="379212"/>
      </dsp:txXfrm>
    </dsp:sp>
    <dsp:sp modelId="{C89E2556-8A97-4D1C-A4EC-D7BF2EA186FD}">
      <dsp:nvSpPr>
        <dsp:cNvPr id="0" name=""/>
        <dsp:cNvSpPr/>
      </dsp:nvSpPr>
      <dsp:spPr>
        <a:xfrm>
          <a:off x="0" y="6278548"/>
          <a:ext cx="7824361" cy="69978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Helvetica Neue"/>
            </a:rPr>
            <a:t>Add 150 µl </a:t>
          </a:r>
          <a:r>
            <a:rPr lang="en-US" sz="2000" b="0" kern="1200" dirty="0" err="1">
              <a:solidFill>
                <a:schemeClr val="tx1"/>
              </a:solidFill>
              <a:latin typeface="Helvetica Neue"/>
            </a:rPr>
            <a:t>Quanti</a:t>
          </a:r>
          <a:r>
            <a:rPr lang="en-US" sz="2000" b="0" kern="1200" dirty="0">
              <a:solidFill>
                <a:schemeClr val="tx1"/>
              </a:solidFill>
              <a:latin typeface="Helvetica Neue"/>
            </a:rPr>
            <a:t>-Luc substrate, mix and measure luminescence in Envision plate reader </a:t>
          </a: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496" y="6299044"/>
        <a:ext cx="7783369" cy="6587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86570"/>
          <a:ext cx="7824361" cy="69647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1: : Seeding of cell lines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384 well plate (8000 cells/well) </a:t>
          </a:r>
        </a:p>
      </dsp:txBody>
      <dsp:txXfrm>
        <a:off x="20399" y="106969"/>
        <a:ext cx="7783563" cy="655673"/>
      </dsp:txXfrm>
    </dsp:sp>
    <dsp:sp modelId="{67244932-2C78-44B6-9B30-4946AAA6EC1E}">
      <dsp:nvSpPr>
        <dsp:cNvPr id="0" name=""/>
        <dsp:cNvSpPr/>
      </dsp:nvSpPr>
      <dsp:spPr>
        <a:xfrm rot="5400000">
          <a:off x="3575962" y="894529"/>
          <a:ext cx="532420" cy="5577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74841" y="907204"/>
        <a:ext cx="334661" cy="372694"/>
      </dsp:txXfrm>
    </dsp:sp>
    <dsp:sp modelId="{67BBB799-AB9D-40D7-8C31-8D1EEA94AA2B}">
      <dsp:nvSpPr>
        <dsp:cNvPr id="0" name=""/>
        <dsp:cNvSpPr/>
      </dsp:nvSpPr>
      <dsp:spPr>
        <a:xfrm>
          <a:off x="0" y="1454914"/>
          <a:ext cx="7824361" cy="92777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2: Compound Treatment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(11 points 3 folds – Top Conc – 3 µM) </a:t>
          </a:r>
        </a:p>
      </dsp:txBody>
      <dsp:txXfrm>
        <a:off x="27173" y="1482087"/>
        <a:ext cx="7770015" cy="873425"/>
      </dsp:txXfrm>
    </dsp:sp>
    <dsp:sp modelId="{864ECC52-85C1-4034-B8C1-CC6E4BE6EBDE}">
      <dsp:nvSpPr>
        <dsp:cNvPr id="0" name=""/>
        <dsp:cNvSpPr/>
      </dsp:nvSpPr>
      <dsp:spPr>
        <a:xfrm rot="5400000">
          <a:off x="3583368" y="2465523"/>
          <a:ext cx="511029" cy="5577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71552" y="2488894"/>
        <a:ext cx="334661" cy="357720"/>
      </dsp:txXfrm>
    </dsp:sp>
    <dsp:sp modelId="{0CB13BE0-38DA-43E0-ADEA-ACF334EAF426}">
      <dsp:nvSpPr>
        <dsp:cNvPr id="0" name=""/>
        <dsp:cNvSpPr/>
      </dsp:nvSpPr>
      <dsp:spPr>
        <a:xfrm>
          <a:off x="0" y="3103776"/>
          <a:ext cx="7824361" cy="88523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Add Lysis Buffer 8 µL of 4X stock</a:t>
          </a:r>
        </a:p>
      </dsp:txBody>
      <dsp:txXfrm>
        <a:off x="25928" y="3129704"/>
        <a:ext cx="7772505" cy="833378"/>
      </dsp:txXfrm>
    </dsp:sp>
    <dsp:sp modelId="{634936AA-6D46-44E5-ADBA-9F543A1B427F}">
      <dsp:nvSpPr>
        <dsp:cNvPr id="0" name=""/>
        <dsp:cNvSpPr/>
      </dsp:nvSpPr>
      <dsp:spPr>
        <a:xfrm rot="5400000">
          <a:off x="3619137" y="4041663"/>
          <a:ext cx="586085" cy="676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09337" y="4086692"/>
        <a:ext cx="405685" cy="410260"/>
      </dsp:txXfrm>
    </dsp:sp>
    <dsp:sp modelId="{FF0E76F2-59B8-4BFD-8DB0-7B862CC0684B}">
      <dsp:nvSpPr>
        <dsp:cNvPr id="0" name=""/>
        <dsp:cNvSpPr/>
      </dsp:nvSpPr>
      <dsp:spPr>
        <a:xfrm>
          <a:off x="0" y="4770458"/>
          <a:ext cx="7824361" cy="72784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Transfer 16 ul of sample to 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proxiplate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Add 4 ul of antibody mix (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pERK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Eu cryptate + </a:t>
          </a:r>
          <a:r>
            <a:rPr lang="en-US" sz="20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pERK</a:t>
          </a:r>
          <a:r>
            <a:rPr lang="en-US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d2 antibody)</a:t>
          </a:r>
        </a:p>
      </dsp:txBody>
      <dsp:txXfrm>
        <a:off x="21318" y="4791776"/>
        <a:ext cx="7781725" cy="685208"/>
      </dsp:txXfrm>
    </dsp:sp>
    <dsp:sp modelId="{48720768-7C85-4352-B217-09E3DCC98569}">
      <dsp:nvSpPr>
        <dsp:cNvPr id="0" name=""/>
        <dsp:cNvSpPr/>
      </dsp:nvSpPr>
      <dsp:spPr>
        <a:xfrm rot="5400000">
          <a:off x="3630454" y="5535865"/>
          <a:ext cx="563451" cy="676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09338" y="5592210"/>
        <a:ext cx="405685" cy="394416"/>
      </dsp:txXfrm>
    </dsp:sp>
    <dsp:sp modelId="{C89E2556-8A97-4D1C-A4EC-D7BF2EA186FD}">
      <dsp:nvSpPr>
        <dsp:cNvPr id="0" name=""/>
        <dsp:cNvSpPr/>
      </dsp:nvSpPr>
      <dsp:spPr>
        <a:xfrm>
          <a:off x="0" y="6249570"/>
          <a:ext cx="7824361" cy="72784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Reading at  EX-340 nm; EM – 620 nm, 665 nm</a:t>
          </a:r>
        </a:p>
      </dsp:txBody>
      <dsp:txXfrm>
        <a:off x="21318" y="6270888"/>
        <a:ext cx="7781725" cy="6852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86570"/>
          <a:ext cx="7824361" cy="69647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IN" sz="20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1: : Cells are thawed and plated in 96 well plate (100 ul/well).</a:t>
          </a:r>
        </a:p>
      </dsp:txBody>
      <dsp:txXfrm>
        <a:off x="20399" y="106969"/>
        <a:ext cx="7783563" cy="655673"/>
      </dsp:txXfrm>
    </dsp:sp>
    <dsp:sp modelId="{67244932-2C78-44B6-9B30-4946AAA6EC1E}">
      <dsp:nvSpPr>
        <dsp:cNvPr id="0" name=""/>
        <dsp:cNvSpPr/>
      </dsp:nvSpPr>
      <dsp:spPr>
        <a:xfrm rot="5400000">
          <a:off x="3575962" y="894529"/>
          <a:ext cx="532420" cy="5577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74841" y="907204"/>
        <a:ext cx="334661" cy="372694"/>
      </dsp:txXfrm>
    </dsp:sp>
    <dsp:sp modelId="{67BBB799-AB9D-40D7-8C31-8D1EEA94AA2B}">
      <dsp:nvSpPr>
        <dsp:cNvPr id="0" name=""/>
        <dsp:cNvSpPr/>
      </dsp:nvSpPr>
      <dsp:spPr>
        <a:xfrm>
          <a:off x="0" y="1454914"/>
          <a:ext cx="7824361" cy="92777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2: Add cell assay buffer (30 ul) and treat with test compounds (15 ul) </a:t>
          </a:r>
        </a:p>
      </dsp:txBody>
      <dsp:txXfrm>
        <a:off x="27173" y="1482087"/>
        <a:ext cx="7770015" cy="873425"/>
      </dsp:txXfrm>
    </dsp:sp>
    <dsp:sp modelId="{864ECC52-85C1-4034-B8C1-CC6E4BE6EBDE}">
      <dsp:nvSpPr>
        <dsp:cNvPr id="0" name=""/>
        <dsp:cNvSpPr/>
      </dsp:nvSpPr>
      <dsp:spPr>
        <a:xfrm rot="5400000">
          <a:off x="3583368" y="2465523"/>
          <a:ext cx="511029" cy="5577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71552" y="2488894"/>
        <a:ext cx="334661" cy="357720"/>
      </dsp:txXfrm>
    </dsp:sp>
    <dsp:sp modelId="{0CB13BE0-38DA-43E0-ADEA-ACF334EAF426}">
      <dsp:nvSpPr>
        <dsp:cNvPr id="0" name=""/>
        <dsp:cNvSpPr/>
      </dsp:nvSpPr>
      <dsp:spPr>
        <a:xfrm>
          <a:off x="0" y="3103776"/>
          <a:ext cx="7824361" cy="88523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Add cAMP antibody  reagent and cAMP working detection solution</a:t>
          </a: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28" y="3129704"/>
        <a:ext cx="7772505" cy="833378"/>
      </dsp:txXfrm>
    </dsp:sp>
    <dsp:sp modelId="{634936AA-6D46-44E5-ADBA-9F543A1B427F}">
      <dsp:nvSpPr>
        <dsp:cNvPr id="0" name=""/>
        <dsp:cNvSpPr/>
      </dsp:nvSpPr>
      <dsp:spPr>
        <a:xfrm rot="5400000">
          <a:off x="3619137" y="4041663"/>
          <a:ext cx="586085" cy="676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09337" y="4086692"/>
        <a:ext cx="405685" cy="410260"/>
      </dsp:txXfrm>
    </dsp:sp>
    <dsp:sp modelId="{FF0E76F2-59B8-4BFD-8DB0-7B862CC0684B}">
      <dsp:nvSpPr>
        <dsp:cNvPr id="0" name=""/>
        <dsp:cNvSpPr/>
      </dsp:nvSpPr>
      <dsp:spPr>
        <a:xfrm>
          <a:off x="0" y="4770458"/>
          <a:ext cx="7824361" cy="72784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Add 60 </a:t>
          </a:r>
          <a:r>
            <a: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uL</a:t>
          </a:r>
          <a:r>
            <a: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    "/>
              <a:ea typeface="+mn-ea"/>
              <a:cs typeface="Arial" panose="020B0604020202020204" pitchFamily="34" charset="0"/>
              <a:sym typeface="Helvetica Neue"/>
            </a:rPr>
            <a:t> cAMP solution A</a:t>
          </a:r>
          <a:endParaRPr lang="en-US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318" y="4791776"/>
        <a:ext cx="7781725" cy="685208"/>
      </dsp:txXfrm>
    </dsp:sp>
    <dsp:sp modelId="{48720768-7C85-4352-B217-09E3DCC98569}">
      <dsp:nvSpPr>
        <dsp:cNvPr id="0" name=""/>
        <dsp:cNvSpPr/>
      </dsp:nvSpPr>
      <dsp:spPr>
        <a:xfrm rot="5400000">
          <a:off x="3630454" y="5535865"/>
          <a:ext cx="563451" cy="676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i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09338" y="5592210"/>
        <a:ext cx="405685" cy="394416"/>
      </dsp:txXfrm>
    </dsp:sp>
    <dsp:sp modelId="{C89E2556-8A97-4D1C-A4EC-D7BF2EA186FD}">
      <dsp:nvSpPr>
        <dsp:cNvPr id="0" name=""/>
        <dsp:cNvSpPr/>
      </dsp:nvSpPr>
      <dsp:spPr>
        <a:xfrm>
          <a:off x="0" y="6249570"/>
          <a:ext cx="7824361" cy="72784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Reading chemiluminescence in Envision plate reader</a:t>
          </a:r>
        </a:p>
      </dsp:txBody>
      <dsp:txXfrm>
        <a:off x="21318" y="6270888"/>
        <a:ext cx="7781725" cy="6852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D771-FFA0-4BFD-827B-DA176B373D83}">
      <dsp:nvSpPr>
        <dsp:cNvPr id="0" name=""/>
        <dsp:cNvSpPr/>
      </dsp:nvSpPr>
      <dsp:spPr>
        <a:xfrm>
          <a:off x="0" y="86570"/>
          <a:ext cx="7824361" cy="696471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IN" sz="20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1: </a:t>
          </a: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Seeding of cell line- 6 well plate (0.5 * 10^6 cells/well) </a:t>
          </a: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399" y="106969"/>
        <a:ext cx="7783563" cy="655673"/>
      </dsp:txXfrm>
    </dsp:sp>
    <dsp:sp modelId="{67244932-2C78-44B6-9B30-4946AAA6EC1E}">
      <dsp:nvSpPr>
        <dsp:cNvPr id="0" name=""/>
        <dsp:cNvSpPr/>
      </dsp:nvSpPr>
      <dsp:spPr>
        <a:xfrm rot="5400000">
          <a:off x="3575962" y="894529"/>
          <a:ext cx="532420" cy="5577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74841" y="907204"/>
        <a:ext cx="334661" cy="372694"/>
      </dsp:txXfrm>
    </dsp:sp>
    <dsp:sp modelId="{67BBB799-AB9D-40D7-8C31-8D1EEA94AA2B}">
      <dsp:nvSpPr>
        <dsp:cNvPr id="0" name=""/>
        <dsp:cNvSpPr/>
      </dsp:nvSpPr>
      <dsp:spPr>
        <a:xfrm>
          <a:off x="0" y="1454914"/>
          <a:ext cx="7824361" cy="927771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2: Test Compound Treatment</a:t>
          </a:r>
        </a:p>
      </dsp:txBody>
      <dsp:txXfrm>
        <a:off x="27173" y="1482087"/>
        <a:ext cx="7770015" cy="873425"/>
      </dsp:txXfrm>
    </dsp:sp>
    <dsp:sp modelId="{864ECC52-85C1-4034-B8C1-CC6E4BE6EBDE}">
      <dsp:nvSpPr>
        <dsp:cNvPr id="0" name=""/>
        <dsp:cNvSpPr/>
      </dsp:nvSpPr>
      <dsp:spPr>
        <a:xfrm rot="5400000">
          <a:off x="3583368" y="2465523"/>
          <a:ext cx="511029" cy="5577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671552" y="2488894"/>
        <a:ext cx="334661" cy="357720"/>
      </dsp:txXfrm>
    </dsp:sp>
    <dsp:sp modelId="{0CB13BE0-38DA-43E0-ADEA-ACF334EAF426}">
      <dsp:nvSpPr>
        <dsp:cNvPr id="0" name=""/>
        <dsp:cNvSpPr/>
      </dsp:nvSpPr>
      <dsp:spPr>
        <a:xfrm>
          <a:off x="0" y="3103776"/>
          <a:ext cx="7824361" cy="885234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Day 3: Cells washed with Cell cycle buffer and fixed with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70 % ethanol</a:t>
          </a: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28" y="3129704"/>
        <a:ext cx="7772505" cy="833378"/>
      </dsp:txXfrm>
    </dsp:sp>
    <dsp:sp modelId="{634936AA-6D46-44E5-ADBA-9F543A1B427F}">
      <dsp:nvSpPr>
        <dsp:cNvPr id="0" name=""/>
        <dsp:cNvSpPr/>
      </dsp:nvSpPr>
      <dsp:spPr>
        <a:xfrm rot="5400000">
          <a:off x="3619137" y="4041663"/>
          <a:ext cx="586085" cy="676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09337" y="4086692"/>
        <a:ext cx="405685" cy="410260"/>
      </dsp:txXfrm>
    </dsp:sp>
    <dsp:sp modelId="{FF0E76F2-59B8-4BFD-8DB0-7B862CC0684B}">
      <dsp:nvSpPr>
        <dsp:cNvPr id="0" name=""/>
        <dsp:cNvSpPr/>
      </dsp:nvSpPr>
      <dsp:spPr>
        <a:xfrm>
          <a:off x="0" y="4770458"/>
          <a:ext cx="7824361" cy="727844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Cells washed with Cell Cycle Buffer and stained with Dye Solution for 30 mins at RT</a:t>
          </a:r>
          <a:endParaRPr lang="en-US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318" y="4791776"/>
        <a:ext cx="7781725" cy="685208"/>
      </dsp:txXfrm>
    </dsp:sp>
    <dsp:sp modelId="{48720768-7C85-4352-B217-09E3DCC98569}">
      <dsp:nvSpPr>
        <dsp:cNvPr id="0" name=""/>
        <dsp:cNvSpPr/>
      </dsp:nvSpPr>
      <dsp:spPr>
        <a:xfrm rot="5400000">
          <a:off x="3630454" y="5535865"/>
          <a:ext cx="563451" cy="676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i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09338" y="5592210"/>
        <a:ext cx="405685" cy="394416"/>
      </dsp:txXfrm>
    </dsp:sp>
    <dsp:sp modelId="{C89E2556-8A97-4D1C-A4EC-D7BF2EA186FD}">
      <dsp:nvSpPr>
        <dsp:cNvPr id="0" name=""/>
        <dsp:cNvSpPr/>
      </dsp:nvSpPr>
      <dsp:spPr>
        <a:xfrm>
          <a:off x="0" y="6249570"/>
          <a:ext cx="7824361" cy="727844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Cells washed and acquired in BD </a:t>
          </a:r>
          <a:r>
            <a:rPr kumimoji="0" lang="en-IN" sz="20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rPr>
            <a:t>Cytoflex</a:t>
          </a:r>
          <a:endParaRPr lang="en-IN" sz="2000" b="0" i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318" y="6270888"/>
        <a:ext cx="7781725" cy="68520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4070A-C7BF-854D-A1F5-A565D0164D97}">
      <dsp:nvSpPr>
        <dsp:cNvPr id="0" name=""/>
        <dsp:cNvSpPr/>
      </dsp:nvSpPr>
      <dsp:spPr>
        <a:xfrm rot="5400000">
          <a:off x="-483062" y="489093"/>
          <a:ext cx="3220419" cy="225429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Whole blood processing</a:t>
          </a:r>
        </a:p>
      </dsp:txBody>
      <dsp:txXfrm rot="-5400000">
        <a:off x="2" y="1133177"/>
        <a:ext cx="2254293" cy="966126"/>
      </dsp:txXfrm>
    </dsp:sp>
    <dsp:sp modelId="{FF3E168E-6CB1-C74B-89C9-4F44CAE79F14}">
      <dsp:nvSpPr>
        <dsp:cNvPr id="0" name=""/>
        <dsp:cNvSpPr/>
      </dsp:nvSpPr>
      <dsp:spPr>
        <a:xfrm rot="5400000">
          <a:off x="6228310" y="-3967985"/>
          <a:ext cx="2093272" cy="10041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Blood from healthy donor withdrawn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Whole blood used for the assay</a:t>
          </a:r>
        </a:p>
      </dsp:txBody>
      <dsp:txXfrm rot="-5400000">
        <a:off x="2254294" y="108216"/>
        <a:ext cx="9939121" cy="1888902"/>
      </dsp:txXfrm>
    </dsp:sp>
    <dsp:sp modelId="{3E146216-9822-1444-B421-EF4EE9791884}">
      <dsp:nvSpPr>
        <dsp:cNvPr id="0" name=""/>
        <dsp:cNvSpPr/>
      </dsp:nvSpPr>
      <dsp:spPr>
        <a:xfrm rot="5400000">
          <a:off x="-483062" y="3524065"/>
          <a:ext cx="3220419" cy="2254293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Compound </a:t>
          </a: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treatment</a:t>
          </a: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and cytokine induction</a:t>
          </a:r>
        </a:p>
      </dsp:txBody>
      <dsp:txXfrm rot="-5400000">
        <a:off x="2" y="4168149"/>
        <a:ext cx="2254293" cy="966126"/>
      </dsp:txXfrm>
    </dsp:sp>
    <dsp:sp modelId="{48EA42D6-D51F-494A-B160-FCDD73A4F16E}">
      <dsp:nvSpPr>
        <dsp:cNvPr id="0" name=""/>
        <dsp:cNvSpPr/>
      </dsp:nvSpPr>
      <dsp:spPr>
        <a:xfrm rot="5400000">
          <a:off x="6228310" y="-933014"/>
          <a:ext cx="2093272" cy="10041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Treatment with compounds - 37</a:t>
          </a:r>
          <a14:m xmlns:a14="http://schemas.microsoft.com/office/drawing/2010/main">
            <m:oMath xmlns:m="http://schemas.openxmlformats.org/officeDocument/2006/math">
              <m:r>
                <a:rPr lang="en-US" sz="3000" kern="120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°</m:t>
              </m:r>
            </m:oMath>
          </a14:m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C for 30 min.</a:t>
          </a:r>
          <a:r>
            <a:rPr lang="en-US" sz="3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Induction with cytokines </a:t>
          </a: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- 37</a:t>
          </a:r>
          <a14:m xmlns:a14="http://schemas.microsoft.com/office/drawing/2010/main">
            <m:oMath xmlns:m="http://schemas.openxmlformats.org/officeDocument/2006/math">
              <m:r>
                <a:rPr lang="en-US" sz="3000" kern="120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°</m:t>
              </m:r>
            </m:oMath>
          </a14:m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C for 20 min.</a:t>
          </a:r>
          <a:endParaRPr lang="en-US" sz="30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Fixed cells, quick wash </a:t>
          </a:r>
        </a:p>
      </dsp:txBody>
      <dsp:txXfrm rot="-5400000">
        <a:off x="2254294" y="3143187"/>
        <a:ext cx="9939121" cy="1888902"/>
      </dsp:txXfrm>
    </dsp:sp>
    <dsp:sp modelId="{4C23AAAE-6747-D040-B167-73C505734969}">
      <dsp:nvSpPr>
        <dsp:cNvPr id="0" name=""/>
        <dsp:cNvSpPr/>
      </dsp:nvSpPr>
      <dsp:spPr>
        <a:xfrm rot="5400000">
          <a:off x="-483062" y="6559037"/>
          <a:ext cx="3220419" cy="2254293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Analysis</a:t>
          </a:r>
        </a:p>
      </dsp:txBody>
      <dsp:txXfrm rot="-5400000">
        <a:off x="2" y="7203121"/>
        <a:ext cx="2254293" cy="966126"/>
      </dsp:txXfrm>
    </dsp:sp>
    <dsp:sp modelId="{DB316645-C25A-2341-A0D3-8856E5907906}">
      <dsp:nvSpPr>
        <dsp:cNvPr id="0" name=""/>
        <dsp:cNvSpPr/>
      </dsp:nvSpPr>
      <dsp:spPr>
        <a:xfrm rot="5400000">
          <a:off x="6228310" y="2101957"/>
          <a:ext cx="2093272" cy="10041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Followed by surface Abs staining at 4</a:t>
          </a:r>
          <a14:m xmlns:a14="http://schemas.microsoft.com/office/drawing/2010/main">
            <m:oMath xmlns:m="http://schemas.openxmlformats.org/officeDocument/2006/math">
              <m:r>
                <a:rPr lang="en-US" sz="3000" kern="120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°</m:t>
              </m:r>
            </m:oMath>
          </a14:m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C for 30 min.</a:t>
          </a:r>
          <a:r>
            <a:rPr lang="en-US" sz="3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endParaRPr lang="en-US" sz="3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Permeabilization followed by </a:t>
          </a:r>
          <a:r>
            <a:rPr lang="en-US" sz="3000" kern="1200" dirty="0" err="1">
              <a:latin typeface="Arial" panose="020B0604020202020204" pitchFamily="34" charset="0"/>
              <a:cs typeface="Arial" panose="020B0604020202020204" pitchFamily="34" charset="0"/>
            </a:rPr>
            <a:t>pSTAT</a:t>
          </a: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 staining at 4</a:t>
          </a:r>
          <a14:m xmlns:a14="http://schemas.microsoft.com/office/drawing/2010/main">
            <m:oMath xmlns:m="http://schemas.openxmlformats.org/officeDocument/2006/math">
              <m:r>
                <a:rPr lang="en-US" sz="3000" kern="120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°</m:t>
              </m:r>
            </m:oMath>
          </a14:m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C for 2h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>
              <a:latin typeface="Arial" panose="020B0604020202020204" pitchFamily="34" charset="0"/>
              <a:cs typeface="Arial" panose="020B0604020202020204" pitchFamily="34" charset="0"/>
            </a:rPr>
            <a:t>Expression check using flow cytometer</a:t>
          </a:r>
        </a:p>
      </dsp:txBody>
      <dsp:txXfrm rot="-5400000">
        <a:off x="2254294" y="6178159"/>
        <a:ext cx="9939121" cy="1888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06357" y="4689515"/>
            <a:ext cx="4984962" cy="444269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76746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028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82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36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40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CBCCA5-33F6-4A93-9FC9-D2F782325E65}"/>
              </a:ext>
            </a:extLst>
          </p:cNvPr>
          <p:cNvSpPr txBox="1"/>
          <p:nvPr userDrawn="1"/>
        </p:nvSpPr>
        <p:spPr>
          <a:xfrm>
            <a:off x="428510" y="13058869"/>
            <a:ext cx="504945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Aurigene Pharmaceuticals Services Limited</a:t>
            </a:r>
          </a:p>
        </p:txBody>
      </p:sp>
      <p:pic>
        <p:nvPicPr>
          <p:cNvPr id="8" name="Logo-01.png" descr="Logo-01.png">
            <a:extLst>
              <a:ext uri="{FF2B5EF4-FFF2-40B4-BE49-F238E27FC236}">
                <a16:creationId xmlns:a16="http://schemas.microsoft.com/office/drawing/2014/main" id="{7DBD5959-DC89-494C-8CB9-3508A2D172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25473" y="11759500"/>
            <a:ext cx="2930017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866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5A7472-FB17-4209-B9DC-8AC772A689BA}"/>
              </a:ext>
            </a:extLst>
          </p:cNvPr>
          <p:cNvSpPr txBox="1"/>
          <p:nvPr userDrawn="1"/>
        </p:nvSpPr>
        <p:spPr>
          <a:xfrm>
            <a:off x="428510" y="13058869"/>
            <a:ext cx="504945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Aurigene Pharmaceuticals Services Limited</a:t>
            </a:r>
          </a:p>
        </p:txBody>
      </p:sp>
      <p:pic>
        <p:nvPicPr>
          <p:cNvPr id="8" name="Logo-01.png" descr="Logo-01.png">
            <a:extLst>
              <a:ext uri="{FF2B5EF4-FFF2-40B4-BE49-F238E27FC236}">
                <a16:creationId xmlns:a16="http://schemas.microsoft.com/office/drawing/2014/main" id="{572C3A54-5F7B-46CD-8AF6-3C18228E00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25473" y="11759500"/>
            <a:ext cx="2930017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1812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0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7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87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77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7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62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31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1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257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02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35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485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01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812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4633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7759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75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915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275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16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umbrella&#10;&#10;Description automatically generated">
            <a:extLst>
              <a:ext uri="{FF2B5EF4-FFF2-40B4-BE49-F238E27FC236}">
                <a16:creationId xmlns:a16="http://schemas.microsoft.com/office/drawing/2014/main" id="{BB6A8832-E123-264F-9AF4-DA72723EF4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80826" cy="13716000"/>
          </a:xfrm>
          <a:prstGeom prst="rect">
            <a:avLst/>
          </a:prstGeom>
        </p:spPr>
      </p:pic>
      <p:pic>
        <p:nvPicPr>
          <p:cNvPr id="8" name="Logo-01.png" descr="Logo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6630" y="10673253"/>
            <a:ext cx="2929636" cy="178668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8248" y="1219201"/>
            <a:ext cx="20726400" cy="2940050"/>
          </a:xfrm>
        </p:spPr>
        <p:txBody>
          <a:bodyPr>
            <a:normAutofit/>
          </a:bodyPr>
          <a:lstStyle>
            <a:lvl1pPr marL="0" algn="l" defTabSz="2176842" rtl="0" eaLnBrk="1" latinLnBrk="0" hangingPunct="1">
              <a:spcBef>
                <a:spcPct val="0"/>
              </a:spcBef>
              <a:buNone/>
              <a:defRPr lang="en-US" sz="6598" b="1" kern="1200" dirty="0" smtClean="0">
                <a:solidFill>
                  <a:schemeClr val="tx1"/>
                </a:solidFill>
                <a:latin typeface="Arial Black" panose="020B0604020202020204" pitchFamily="34" charset="0"/>
                <a:ea typeface="Raleway Black"/>
                <a:cs typeface="Arial Black" panose="020B0604020202020204" pitchFamily="34" charset="0"/>
                <a:sym typeface="Raleway Black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8248" y="4495800"/>
            <a:ext cx="17068800" cy="1447800"/>
          </a:xfrm>
        </p:spPr>
        <p:txBody>
          <a:bodyPr>
            <a:normAutofit/>
          </a:bodyPr>
          <a:lstStyle>
            <a:lvl1pPr marL="0" indent="0" algn="l" defTabSz="217684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5098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Avenir Next Demi Bold"/>
                <a:cs typeface="Arial" panose="020B0604020202020204" pitchFamily="34" charset="0"/>
                <a:sym typeface="Avenir Next Demi Bold"/>
              </a:defRPr>
            </a:lvl1pPr>
            <a:lvl2pPr marL="456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7479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mg_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87" y="0"/>
            <a:ext cx="24380826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8251" y="3429001"/>
            <a:ext cx="14171354" cy="2940050"/>
          </a:xfrm>
        </p:spPr>
        <p:txBody>
          <a:bodyPr>
            <a:noAutofit/>
          </a:bodyPr>
          <a:lstStyle>
            <a:lvl1pPr marL="0" marR="0" indent="0" algn="l" defTabSz="82533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998" b="1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 Black" panose="020B0604020202020204" pitchFamily="34" charset="0"/>
                <a:ea typeface="Raleway Black"/>
                <a:cs typeface="Arial Black" panose="020B0604020202020204" pitchFamily="34" charset="0"/>
                <a:sym typeface="Raleway Black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2058" y="7086600"/>
            <a:ext cx="17068800" cy="1447800"/>
          </a:xfrm>
        </p:spPr>
        <p:txBody>
          <a:bodyPr>
            <a:normAutofit/>
          </a:bodyPr>
          <a:lstStyle>
            <a:lvl1pPr marL="0" indent="0" algn="l" defTabSz="217684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5098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Avenir Next Demi Bold"/>
                <a:cs typeface="Arial" panose="020B0604020202020204" pitchFamily="34" charset="0"/>
                <a:sym typeface="Avenir Next Demi Bold"/>
              </a:defRPr>
            </a:lvl1pPr>
            <a:lvl2pPr marL="456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Logo-01.png" descr="Logo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2908" y="11734801"/>
            <a:ext cx="2929636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675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holding, computer&#10;&#10;Description automatically generated">
            <a:extLst>
              <a:ext uri="{FF2B5EF4-FFF2-40B4-BE49-F238E27FC236}">
                <a16:creationId xmlns:a16="http://schemas.microsoft.com/office/drawing/2014/main" id="{E89A415A-1229-6149-A159-82344678E2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80826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8251" y="3429001"/>
            <a:ext cx="14171354" cy="2940050"/>
          </a:xfrm>
        </p:spPr>
        <p:txBody>
          <a:bodyPr>
            <a:noAutofit/>
          </a:bodyPr>
          <a:lstStyle>
            <a:lvl1pPr marL="0" marR="0" indent="0" algn="l" defTabSz="82533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998" b="1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 Black" panose="020B0604020202020204" pitchFamily="34" charset="0"/>
                <a:ea typeface="Raleway Black"/>
                <a:cs typeface="Arial Black" panose="020B0604020202020204" pitchFamily="34" charset="0"/>
                <a:sym typeface="Raleway Black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2058" y="7086600"/>
            <a:ext cx="17068800" cy="1447800"/>
          </a:xfrm>
        </p:spPr>
        <p:txBody>
          <a:bodyPr>
            <a:normAutofit/>
          </a:bodyPr>
          <a:lstStyle>
            <a:lvl1pPr marL="0" indent="0" algn="l" defTabSz="217684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5098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Avenir Next Demi Bold"/>
                <a:cs typeface="Arial" panose="020B0604020202020204" pitchFamily="34" charset="0"/>
                <a:sym typeface="Avenir Next Demi Bold"/>
              </a:defRPr>
            </a:lvl1pPr>
            <a:lvl2pPr marL="456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Logo-01.png" descr="Logo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2908" y="11734801"/>
            <a:ext cx="2929636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923180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482" y="838200"/>
            <a:ext cx="21945600" cy="1447800"/>
          </a:xfrm>
        </p:spPr>
        <p:txBody>
          <a:bodyPr>
            <a:normAutofit/>
          </a:bodyPr>
          <a:lstStyle>
            <a:lvl1pPr>
              <a:defRPr sz="6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3482" y="2759075"/>
            <a:ext cx="21945600" cy="9051926"/>
          </a:xfrm>
        </p:spPr>
        <p:txBody>
          <a:bodyPr>
            <a:normAutofit/>
          </a:bodyPr>
          <a:lstStyle>
            <a:lvl1pPr algn="l" defTabSz="119040" rtl="0" eaLnBrk="1" latinLnBrk="0">
              <a:lnSpc>
                <a:spcPct val="100000"/>
              </a:lnSpc>
              <a:spcBef>
                <a:spcPts val="2500"/>
              </a:spcBef>
              <a:defRPr kumimoji="0" lang="en-US" sz="32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Demi Bold"/>
              </a:defRPr>
            </a:lvl1pPr>
            <a:lvl2pPr marL="1033256" indent="-525358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tabLst>
                <a:tab pos="1201498" algn="l"/>
              </a:tabLst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2pPr>
            <a:lvl3pPr algn="l" defTabSz="119040" rtl="0" eaLnBrk="1" latinLnBrk="0">
              <a:lnSpc>
                <a:spcPct val="100000"/>
              </a:lnSpc>
              <a:spcBef>
                <a:spcPts val="1500"/>
              </a:spcBef>
              <a:buFont typeface="Arial" pitchFamily="34" charset="0"/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3pPr>
            <a:lvl4pPr algn="l" defTabSz="119040" rtl="0" eaLnBrk="1" latinLnBrk="0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4pPr>
            <a:lvl5pPr algn="l" defTabSz="119040" rtl="0" eaLnBrk="1" latinLnBrk="0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defRPr kumimoji="0" lang="en-US" sz="24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Image" descr="Image"/>
          <p:cNvPicPr>
            <a:picLocks noChangeAspect="1"/>
          </p:cNvPicPr>
          <p:nvPr/>
        </p:nvPicPr>
        <p:blipFill>
          <a:blip r:embed="rId2" cstate="print"/>
          <a:srcRect l="20755"/>
          <a:stretch>
            <a:fillRect/>
          </a:stretch>
        </p:blipFill>
        <p:spPr>
          <a:xfrm>
            <a:off x="-56607" y="-12478"/>
            <a:ext cx="1787078" cy="137409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Logo-01.png" descr="Logo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2908" y="11734801"/>
            <a:ext cx="2929636" cy="178668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153966" y="12712707"/>
            <a:ext cx="1753800" cy="730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9688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678" y="822326"/>
            <a:ext cx="21945600" cy="1447800"/>
          </a:xfrm>
        </p:spPr>
        <p:txBody>
          <a:bodyPr>
            <a:normAutofit/>
          </a:bodyPr>
          <a:lstStyle>
            <a:lvl1pPr>
              <a:defRPr sz="6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678" y="2743201"/>
            <a:ext cx="21945600" cy="9051926"/>
          </a:xfrm>
        </p:spPr>
        <p:txBody>
          <a:bodyPr>
            <a:normAutofit/>
          </a:bodyPr>
          <a:lstStyle>
            <a:lvl1pPr algn="l" defTabSz="119040" rtl="0" eaLnBrk="1" latinLnBrk="0">
              <a:lnSpc>
                <a:spcPct val="100000"/>
              </a:lnSpc>
              <a:spcBef>
                <a:spcPts val="2500"/>
              </a:spcBef>
              <a:defRPr kumimoji="0" lang="en-US" sz="32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Demi Bold"/>
              </a:defRPr>
            </a:lvl1pPr>
            <a:lvl2pPr marL="1033256" indent="-525358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tabLst>
                <a:tab pos="1201498" algn="l"/>
              </a:tabLst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2pPr>
            <a:lvl3pPr marL="1371326" marR="0" indent="-525358" algn="l" defTabSz="457108" rtl="0" eaLnBrk="1" fontAlgn="auto" latinLnBrk="0" hangingPunct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itchFamily="34" charset="0"/>
              <a:buChar char="●"/>
              <a:tabLst>
                <a:tab pos="1201498" algn="l"/>
              </a:tabLst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3pPr>
            <a:lvl4pPr algn="l" defTabSz="119040" rtl="0" eaLnBrk="1" latinLnBrk="0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4pPr>
            <a:lvl5pPr algn="l" defTabSz="119040" rtl="0" eaLnBrk="1" latinLnBrk="0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Logo-01.png" descr="Logo-0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72908" y="11734801"/>
            <a:ext cx="2929636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503330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/>
          <p:cNvSpPr/>
          <p:nvPr/>
        </p:nvSpPr>
        <p:spPr>
          <a:xfrm>
            <a:off x="-25395" y="3177"/>
            <a:ext cx="10084074" cy="13709650"/>
          </a:xfrm>
          <a:prstGeom prst="rect">
            <a:avLst/>
          </a:prstGeom>
          <a:solidFill>
            <a:srgbClr val="1F3FB7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678" y="822326"/>
            <a:ext cx="21945600" cy="1447800"/>
          </a:xfrm>
        </p:spPr>
        <p:txBody>
          <a:bodyPr>
            <a:normAutofit/>
          </a:bodyPr>
          <a:lstStyle>
            <a:lvl1pPr>
              <a:defRPr sz="6598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678" y="2743201"/>
            <a:ext cx="21945600" cy="9051926"/>
          </a:xfrm>
        </p:spPr>
        <p:txBody>
          <a:bodyPr>
            <a:normAutofit/>
          </a:bodyPr>
          <a:lstStyle>
            <a:lvl1pPr algn="l" defTabSz="119040" rtl="0" eaLnBrk="1" latinLnBrk="0">
              <a:lnSpc>
                <a:spcPct val="100000"/>
              </a:lnSpc>
              <a:spcBef>
                <a:spcPts val="2500"/>
              </a:spcBef>
              <a:defRPr kumimoji="0" lang="en-US" sz="32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Demi Bold"/>
              </a:defRPr>
            </a:lvl1pPr>
            <a:lvl2pPr marL="1033256" indent="-525358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tabLst>
                <a:tab pos="1201498" algn="l"/>
              </a:tabLst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2pPr>
            <a:lvl3pPr marL="1371326" marR="0" indent="-525358" algn="l" defTabSz="457108" rtl="0" eaLnBrk="1" fontAlgn="auto" latinLnBrk="0" hangingPunct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itchFamily="34" charset="0"/>
              <a:buChar char="●"/>
              <a:tabLst>
                <a:tab pos="1201498" algn="l"/>
              </a:tabLst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3pPr>
            <a:lvl4pPr algn="l" defTabSz="119040" rtl="0" eaLnBrk="1" latinLnBrk="0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4pPr>
            <a:lvl5pPr algn="l" defTabSz="119040" rtl="0" eaLnBrk="1" latinLnBrk="0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Logo-01.png" descr="Logo-0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72908" y="11734801"/>
            <a:ext cx="2929636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09273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482" y="838200"/>
            <a:ext cx="21945600" cy="1447800"/>
          </a:xfrm>
        </p:spPr>
        <p:txBody>
          <a:bodyPr>
            <a:normAutofit/>
          </a:bodyPr>
          <a:lstStyle>
            <a:lvl1pPr>
              <a:defRPr sz="6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3482" y="2759075"/>
            <a:ext cx="21945600" cy="9051926"/>
          </a:xfrm>
        </p:spPr>
        <p:txBody>
          <a:bodyPr>
            <a:normAutofit/>
          </a:bodyPr>
          <a:lstStyle>
            <a:lvl1pPr algn="l" defTabSz="119040" rtl="0" eaLnBrk="1" latinLnBrk="0">
              <a:lnSpc>
                <a:spcPct val="100000"/>
              </a:lnSpc>
              <a:spcBef>
                <a:spcPts val="2500"/>
              </a:spcBef>
              <a:buFontTx/>
              <a:buNone/>
              <a:defRPr kumimoji="0" lang="en-US" sz="32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Demi Bold"/>
              </a:defRPr>
            </a:lvl1pPr>
            <a:lvl2pPr marL="1033256" indent="-525358">
              <a:lnSpc>
                <a:spcPct val="100000"/>
              </a:lnSpc>
              <a:spcBef>
                <a:spcPts val="1500"/>
              </a:spcBef>
              <a:buFont typeface="Arial" pitchFamily="34" charset="0"/>
              <a:buChar char="●"/>
              <a:tabLst>
                <a:tab pos="1201498" algn="l"/>
              </a:tabLst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2pPr>
            <a:lvl3pPr marL="1371326" marR="0" indent="-525358" algn="l" defTabSz="457108" rtl="0" eaLnBrk="1" fontAlgn="auto" latinLnBrk="0" hangingPunct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itchFamily="34" charset="0"/>
              <a:buChar char="●"/>
              <a:tabLst>
                <a:tab pos="1201498" algn="l"/>
              </a:tabLst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3pPr>
            <a:lvl4pPr algn="l" defTabSz="119040" rtl="0" eaLnBrk="1" latinLnBrk="0">
              <a:lnSpc>
                <a:spcPct val="100000"/>
              </a:lnSpc>
              <a:spcBef>
                <a:spcPts val="1500"/>
              </a:spcBef>
              <a:buFontTx/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4pPr>
            <a:lvl5pPr algn="l" defTabSz="119040" rtl="0" eaLnBrk="1" latinLnBrk="0">
              <a:lnSpc>
                <a:spcPct val="100000"/>
              </a:lnSpc>
              <a:spcBef>
                <a:spcPts val="1500"/>
              </a:spcBef>
              <a:buFontTx/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venir Next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Image" descr="Image"/>
          <p:cNvPicPr>
            <a:picLocks noChangeAspect="1"/>
          </p:cNvPicPr>
          <p:nvPr/>
        </p:nvPicPr>
        <p:blipFill>
          <a:blip r:embed="rId2" cstate="print"/>
          <a:srcRect l="20755"/>
          <a:stretch>
            <a:fillRect/>
          </a:stretch>
        </p:blipFill>
        <p:spPr>
          <a:xfrm>
            <a:off x="-56607" y="-12478"/>
            <a:ext cx="1787078" cy="137409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Logo-01.png" descr="Logo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2908" y="11734801"/>
            <a:ext cx="2929636" cy="178668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66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168" y="8813807"/>
            <a:ext cx="20726400" cy="27241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6168" y="5813427"/>
            <a:ext cx="20726400" cy="30003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94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8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7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7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6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6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5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05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201" y="6400807"/>
            <a:ext cx="29061834" cy="18103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19438" y="6400807"/>
            <a:ext cx="29061832" cy="18103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4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49276"/>
            <a:ext cx="21945600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3070226"/>
            <a:ext cx="10773836" cy="12795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48" indent="0">
              <a:buNone/>
              <a:defRPr sz="2000" b="1"/>
            </a:lvl2pPr>
            <a:lvl3pPr marL="913896" indent="0">
              <a:buNone/>
              <a:defRPr sz="1800" b="1"/>
            </a:lvl3pPr>
            <a:lvl4pPr marL="1370844" indent="0">
              <a:buNone/>
              <a:defRPr sz="1600" b="1"/>
            </a:lvl4pPr>
            <a:lvl5pPr marL="1827790" indent="0">
              <a:buNone/>
              <a:defRPr sz="1600" b="1"/>
            </a:lvl5pPr>
            <a:lvl6pPr marL="2284738" indent="0">
              <a:buNone/>
              <a:defRPr sz="1600" b="1"/>
            </a:lvl6pPr>
            <a:lvl7pPr marL="2741686" indent="0">
              <a:buNone/>
              <a:defRPr sz="1600" b="1"/>
            </a:lvl7pPr>
            <a:lvl8pPr marL="3198632" indent="0">
              <a:buNone/>
              <a:defRPr sz="1600" b="1"/>
            </a:lvl8pPr>
            <a:lvl9pPr marL="365558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9200" y="4349750"/>
            <a:ext cx="10773836" cy="79025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6741" y="3070226"/>
            <a:ext cx="10778066" cy="12795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48" indent="0">
              <a:buNone/>
              <a:defRPr sz="2000" b="1"/>
            </a:lvl2pPr>
            <a:lvl3pPr marL="913896" indent="0">
              <a:buNone/>
              <a:defRPr sz="1800" b="1"/>
            </a:lvl3pPr>
            <a:lvl4pPr marL="1370844" indent="0">
              <a:buNone/>
              <a:defRPr sz="1600" b="1"/>
            </a:lvl4pPr>
            <a:lvl5pPr marL="1827790" indent="0">
              <a:buNone/>
              <a:defRPr sz="1600" b="1"/>
            </a:lvl5pPr>
            <a:lvl6pPr marL="2284738" indent="0">
              <a:buNone/>
              <a:defRPr sz="1600" b="1"/>
            </a:lvl6pPr>
            <a:lvl7pPr marL="2741686" indent="0">
              <a:buNone/>
              <a:defRPr sz="1600" b="1"/>
            </a:lvl7pPr>
            <a:lvl8pPr marL="3198632" indent="0">
              <a:buNone/>
              <a:defRPr sz="1600" b="1"/>
            </a:lvl8pPr>
            <a:lvl9pPr marL="365558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6741" y="4349750"/>
            <a:ext cx="10778066" cy="79025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744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4288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19782-19F4-4AAB-A403-C210E4DEC825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537EF-2CC1-4A40-9179-801D67BC9122}"/>
              </a:ext>
            </a:extLst>
          </p:cNvPr>
          <p:cNvSpPr txBox="1"/>
          <p:nvPr userDrawn="1"/>
        </p:nvSpPr>
        <p:spPr>
          <a:xfrm>
            <a:off x="428510" y="13058869"/>
            <a:ext cx="504945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Aurigene Pharmaceuticals Services Limited</a:t>
            </a:r>
          </a:p>
        </p:txBody>
      </p:sp>
      <p:pic>
        <p:nvPicPr>
          <p:cNvPr id="6" name="Logo-01.png" descr="Logo-01.png">
            <a:extLst>
              <a:ext uri="{FF2B5EF4-FFF2-40B4-BE49-F238E27FC236}">
                <a16:creationId xmlns:a16="http://schemas.microsoft.com/office/drawing/2014/main" id="{D439B651-5F4A-4959-889C-DF40A51753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25473" y="11759500"/>
            <a:ext cx="2930017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27664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6" y="546100"/>
            <a:ext cx="8022168" cy="2324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3467" y="546107"/>
            <a:ext cx="13631334" cy="11706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6" y="2870207"/>
            <a:ext cx="8022168" cy="9382126"/>
          </a:xfrm>
        </p:spPr>
        <p:txBody>
          <a:bodyPr/>
          <a:lstStyle>
            <a:lvl1pPr marL="0" indent="0">
              <a:buNone/>
              <a:defRPr sz="1400"/>
            </a:lvl1pPr>
            <a:lvl2pPr marL="456948" indent="0">
              <a:buNone/>
              <a:defRPr sz="1200"/>
            </a:lvl2pPr>
            <a:lvl3pPr marL="913896" indent="0">
              <a:buNone/>
              <a:defRPr sz="1000"/>
            </a:lvl3pPr>
            <a:lvl4pPr marL="1370844" indent="0">
              <a:buNone/>
              <a:defRPr sz="900"/>
            </a:lvl4pPr>
            <a:lvl5pPr marL="1827790" indent="0">
              <a:buNone/>
              <a:defRPr sz="900"/>
            </a:lvl5pPr>
            <a:lvl6pPr marL="2284738" indent="0">
              <a:buNone/>
              <a:defRPr sz="900"/>
            </a:lvl6pPr>
            <a:lvl7pPr marL="2741686" indent="0">
              <a:buNone/>
              <a:defRPr sz="900"/>
            </a:lvl7pPr>
            <a:lvl8pPr marL="3198632" indent="0">
              <a:buNone/>
              <a:defRPr sz="900"/>
            </a:lvl8pPr>
            <a:lvl9pPr marL="36555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3244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436" y="9601200"/>
            <a:ext cx="14630400" cy="11334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9436" y="1225550"/>
            <a:ext cx="14630400" cy="8229600"/>
          </a:xfrm>
        </p:spPr>
        <p:txBody>
          <a:bodyPr/>
          <a:lstStyle>
            <a:lvl1pPr marL="0" indent="0">
              <a:buNone/>
              <a:defRPr sz="3200"/>
            </a:lvl1pPr>
            <a:lvl2pPr marL="456948" indent="0">
              <a:buNone/>
              <a:defRPr sz="2800"/>
            </a:lvl2pPr>
            <a:lvl3pPr marL="913896" indent="0">
              <a:buNone/>
              <a:defRPr sz="2400"/>
            </a:lvl3pPr>
            <a:lvl4pPr marL="1370844" indent="0">
              <a:buNone/>
              <a:defRPr sz="2000"/>
            </a:lvl4pPr>
            <a:lvl5pPr marL="1827790" indent="0">
              <a:buNone/>
              <a:defRPr sz="2000"/>
            </a:lvl5pPr>
            <a:lvl6pPr marL="2284738" indent="0">
              <a:buNone/>
              <a:defRPr sz="2000"/>
            </a:lvl6pPr>
            <a:lvl7pPr marL="2741686" indent="0">
              <a:buNone/>
              <a:defRPr sz="2000"/>
            </a:lvl7pPr>
            <a:lvl8pPr marL="3198632" indent="0">
              <a:buNone/>
              <a:defRPr sz="2000"/>
            </a:lvl8pPr>
            <a:lvl9pPr marL="365558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9436" y="10734676"/>
            <a:ext cx="14630400" cy="1609724"/>
          </a:xfrm>
        </p:spPr>
        <p:txBody>
          <a:bodyPr/>
          <a:lstStyle>
            <a:lvl1pPr marL="0" indent="0">
              <a:buNone/>
              <a:defRPr sz="1400"/>
            </a:lvl1pPr>
            <a:lvl2pPr marL="456948" indent="0">
              <a:buNone/>
              <a:defRPr sz="1200"/>
            </a:lvl2pPr>
            <a:lvl3pPr marL="913896" indent="0">
              <a:buNone/>
              <a:defRPr sz="1000"/>
            </a:lvl3pPr>
            <a:lvl4pPr marL="1370844" indent="0">
              <a:buNone/>
              <a:defRPr sz="900"/>
            </a:lvl4pPr>
            <a:lvl5pPr marL="1827790" indent="0">
              <a:buNone/>
              <a:defRPr sz="900"/>
            </a:lvl5pPr>
            <a:lvl6pPr marL="2284738" indent="0">
              <a:buNone/>
              <a:defRPr sz="900"/>
            </a:lvl6pPr>
            <a:lvl7pPr marL="2741686" indent="0">
              <a:buNone/>
              <a:defRPr sz="900"/>
            </a:lvl7pPr>
            <a:lvl8pPr marL="3198632" indent="0">
              <a:buNone/>
              <a:defRPr sz="900"/>
            </a:lvl8pPr>
            <a:lvl9pPr marL="36555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042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8149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50868" y="1098550"/>
            <a:ext cx="14630400" cy="23406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1205" y="1098550"/>
            <a:ext cx="43493266" cy="23406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9174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F90064-68A7-499F-A238-36015A84A536}"/>
              </a:ext>
            </a:extLst>
          </p:cNvPr>
          <p:cNvSpPr txBox="1"/>
          <p:nvPr userDrawn="1"/>
        </p:nvSpPr>
        <p:spPr>
          <a:xfrm>
            <a:off x="428510" y="13058869"/>
            <a:ext cx="504945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Aurigene Pharmaceuticals Services Limited</a:t>
            </a:r>
          </a:p>
        </p:txBody>
      </p:sp>
      <p:pic>
        <p:nvPicPr>
          <p:cNvPr id="7" name="Logo-01.png" descr="Logo-01.png">
            <a:extLst>
              <a:ext uri="{FF2B5EF4-FFF2-40B4-BE49-F238E27FC236}">
                <a16:creationId xmlns:a16="http://schemas.microsoft.com/office/drawing/2014/main" id="{F9EEBBA8-30FC-439E-8D78-EFF72919C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25473" y="11759500"/>
            <a:ext cx="2930017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66557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797D02-CDDE-4FB0-BD63-87EF0FC56701}"/>
              </a:ext>
            </a:extLst>
          </p:cNvPr>
          <p:cNvSpPr txBox="1"/>
          <p:nvPr userDrawn="1"/>
        </p:nvSpPr>
        <p:spPr>
          <a:xfrm>
            <a:off x="238556" y="13058871"/>
            <a:ext cx="5429371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50800" tIns="50800" rIns="50800" bIns="50800" spcCol="38100" anchor="ctr">
            <a:spAutoFit/>
          </a:bodyPr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Aurigene Pharmaceuticals Services Limited</a:t>
            </a:r>
          </a:p>
        </p:txBody>
      </p:sp>
      <p:pic>
        <p:nvPicPr>
          <p:cNvPr id="3" name="Logo-01.png" descr="Logo-01.png">
            <a:extLst>
              <a:ext uri="{FF2B5EF4-FFF2-40B4-BE49-F238E27FC236}">
                <a16:creationId xmlns:a16="http://schemas.microsoft.com/office/drawing/2014/main" id="{4AFD7FAD-206A-4DBC-A64F-4865B305CF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4851" y="11760201"/>
            <a:ext cx="2930526" cy="178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2124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428510" y="13058869"/>
            <a:ext cx="504945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2000" b="0" dirty="0"/>
              <a:t>Aurigene Pharmaceuticals Services Limited</a:t>
            </a:r>
          </a:p>
        </p:txBody>
      </p:sp>
      <p:pic>
        <p:nvPicPr>
          <p:cNvPr id="6" name="Logo-01.png" descr="Logo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25473" y="11759500"/>
            <a:ext cx="2930017" cy="17866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095235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8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47A1F-A718-4517-B252-B54D699FD3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58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0" y="549276"/>
            <a:ext cx="21945600" cy="2286000"/>
          </a:xfrm>
          <a:prstGeom prst="rect">
            <a:avLst/>
          </a:prstGeom>
        </p:spPr>
        <p:txBody>
          <a:bodyPr vert="horz" lIns="91408" tIns="45704" rIns="91408" bIns="4570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3200407"/>
            <a:ext cx="21945600" cy="9051926"/>
          </a:xfrm>
          <a:prstGeom prst="rect">
            <a:avLst/>
          </a:prstGeom>
        </p:spPr>
        <p:txBody>
          <a:bodyPr vert="horz" lIns="91408" tIns="45704" rIns="91408" bIns="4570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3966" y="12712707"/>
            <a:ext cx="1753800" cy="730250"/>
          </a:xfrm>
          <a:prstGeom prst="rect">
            <a:avLst/>
          </a:prstGeom>
        </p:spPr>
        <p:txBody>
          <a:bodyPr vert="horz" lIns="91408" tIns="45704" rIns="91408" bIns="45704" rtlCol="0" anchor="ctr"/>
          <a:lstStyle>
            <a:lvl1pPr algn="l">
              <a:defRPr sz="1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1200" y="12712707"/>
            <a:ext cx="7721600" cy="730250"/>
          </a:xfrm>
          <a:prstGeom prst="rect">
            <a:avLst/>
          </a:prstGeom>
        </p:spPr>
        <p:txBody>
          <a:bodyPr vert="horz" lIns="91408" tIns="45704" rIns="91408" bIns="45704" rtlCol="0" anchor="ctr"/>
          <a:lstStyle>
            <a:lvl1pPr algn="ctr">
              <a:defRPr sz="1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896729" y="12712707"/>
            <a:ext cx="1372850" cy="730250"/>
          </a:xfrm>
          <a:prstGeom prst="rect">
            <a:avLst/>
          </a:prstGeom>
        </p:spPr>
        <p:txBody>
          <a:bodyPr vert="horz" lIns="91408" tIns="45704" rIns="91408" bIns="45704" rtlCol="0" anchor="ctr"/>
          <a:lstStyle>
            <a:lvl1pPr algn="r">
              <a:defRPr sz="1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A1B4D33-B0C0-4E79-884F-DADF981C5C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21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06" r:id="rId17"/>
    <p:sldLayoutId id="2147483772" r:id="rId18"/>
    <p:sldLayoutId id="2147483773" r:id="rId19"/>
  </p:sldLayoutIdLst>
  <p:hf hdr="0" ftr="0" dt="0"/>
  <p:txStyles>
    <p:titleStyle>
      <a:lvl1pPr marL="0" marR="0" indent="0" algn="l" defTabSz="825334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lang="en-US" sz="6598" b="1" i="0" u="none" strike="noStrike" kern="1200" cap="none" spc="0" normalizeH="0" baseline="0" dirty="0">
          <a:ln>
            <a:noFill/>
          </a:ln>
          <a:solidFill>
            <a:srgbClr val="1F3FB7"/>
          </a:solidFill>
          <a:effectLst/>
          <a:uFillTx/>
          <a:latin typeface="Arial Black" panose="020B0604020202020204" pitchFamily="34" charset="0"/>
          <a:ea typeface="+mj-ea"/>
          <a:cs typeface="+mj-cs"/>
          <a:sym typeface="Raleway Black"/>
        </a:defRPr>
      </a:lvl1pPr>
    </p:titleStyle>
    <p:bodyStyle>
      <a:lvl1pPr marL="0" marR="0" indent="0" algn="l" defTabSz="825334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None/>
        <a:tabLst/>
        <a:defRPr kumimoji="0" lang="en-US" sz="4200" b="1" i="0" u="none" strike="noStrike" kern="1200" cap="none" spc="0" normalizeH="0" baseline="0" dirty="0" smtClean="0">
          <a:ln>
            <a:noFill/>
          </a:ln>
          <a:solidFill>
            <a:srgbClr val="000000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Avenir Next Demi Bold"/>
        </a:defRPr>
      </a:lvl1pPr>
      <a:lvl2pPr marL="0" marR="0" indent="507898" algn="l" defTabSz="457108" rtl="0" eaLnBrk="1" fontAlgn="auto" latinLnBrk="0" hangingPunct="1">
        <a:lnSpc>
          <a:spcPts val="3600"/>
        </a:lnSpc>
        <a:spcBef>
          <a:spcPts val="2000"/>
        </a:spcBef>
        <a:spcAft>
          <a:spcPts val="0"/>
        </a:spcAft>
        <a:buClrTx/>
        <a:buSzTx/>
        <a:buFont typeface="Arial" pitchFamily="34" charset="0"/>
        <a:buChar char="●"/>
        <a:tabLst/>
        <a:defRPr kumimoji="0" lang="en-US" sz="3200" b="0" i="0" u="none" strike="noStrike" kern="1200" cap="none" spc="0" normalizeH="0" baseline="0" dirty="0" smtClean="0">
          <a:ln>
            <a:noFill/>
          </a:ln>
          <a:solidFill>
            <a:srgbClr val="000000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Avenir Next Medium"/>
        </a:defRPr>
      </a:lvl2pPr>
      <a:lvl3pPr marL="1371326" indent="-457108" algn="l" defTabSz="913896" rtl="0" eaLnBrk="1" latinLnBrk="0" hangingPunct="1">
        <a:lnSpc>
          <a:spcPts val="3600"/>
        </a:lnSpc>
        <a:spcBef>
          <a:spcPts val="2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316" indent="-228474" algn="l" defTabSz="913896" rtl="0" eaLnBrk="1" latinLnBrk="0" hangingPunct="1">
        <a:lnSpc>
          <a:spcPts val="3600"/>
        </a:lnSpc>
        <a:spcBef>
          <a:spcPts val="2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264" indent="-228474" algn="l" defTabSz="913896" rtl="0" eaLnBrk="1" latinLnBrk="0" hangingPunct="1">
        <a:lnSpc>
          <a:spcPts val="3600"/>
        </a:lnSpc>
        <a:spcBef>
          <a:spcPts val="2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212" indent="-228474" algn="l" defTabSz="9138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0" indent="-228474" algn="l" defTabSz="9138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106" indent="-228474" algn="l" defTabSz="9138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056" indent="-228474" algn="l" defTabSz="9138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48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96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4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0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8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686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632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0" algn="l" defTabSz="9138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0.pn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9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8.png"/><Relationship Id="rId9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4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5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0.pn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1.png"/><Relationship Id="rId9" Type="http://schemas.microsoft.com/office/2007/relationships/diagramDrawing" Target="../diagrams/drawing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22.emf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23.png"/><Relationship Id="rId9" Type="http://schemas.microsoft.com/office/2007/relationships/diagramDrawing" Target="../diagrams/drawing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4.emf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openxmlformats.org/officeDocument/2006/relationships/image" Target="../media/image26.png"/><Relationship Id="rId7" Type="http://schemas.openxmlformats.org/officeDocument/2006/relationships/diagramLayout" Target="../diagrams/layout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8.xml"/><Relationship Id="rId11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microsoft.com/office/2007/relationships/diagramDrawing" Target="../diagrams/drawing8.xml"/><Relationship Id="rId4" Type="http://schemas.openxmlformats.org/officeDocument/2006/relationships/image" Target="../media/image27.png"/><Relationship Id="rId9" Type="http://schemas.openxmlformats.org/officeDocument/2006/relationships/diagramColors" Target="../diagrams/colors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4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9.xml"/><Relationship Id="rId11" Type="http://schemas.openxmlformats.org/officeDocument/2006/relationships/image" Target="../media/image31.png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5D666-CEF0-401A-A922-620F7972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B97-5405-487B-A2FE-96650DCCAB78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DAB916-2D47-47B8-8D97-85C6682DA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937" y="324154"/>
            <a:ext cx="19256240" cy="5506072"/>
          </a:xfrm>
        </p:spPr>
        <p:txBody>
          <a:bodyPr>
            <a:normAutofit/>
          </a:bodyPr>
          <a:lstStyle/>
          <a:p>
            <a:r>
              <a:rPr lang="en-US" sz="8000" i="1" dirty="0">
                <a:latin typeface="Arial Black" panose="020B0A04020102020204" pitchFamily="34" charset="0"/>
                <a:cs typeface="Calibri" panose="020F0502020204030204" pitchFamily="34" charset="0"/>
              </a:rPr>
              <a:t>In-vitro</a:t>
            </a:r>
            <a:r>
              <a:rPr lang="en-US" sz="8000" dirty="0">
                <a:latin typeface="Arial Black" panose="020B0A04020102020204" pitchFamily="34" charset="0"/>
                <a:cs typeface="Calibri" panose="020F0502020204030204" pitchFamily="34" charset="0"/>
              </a:rPr>
              <a:t> Biology</a:t>
            </a:r>
          </a:p>
        </p:txBody>
      </p:sp>
    </p:spTree>
    <p:extLst>
      <p:ext uri="{BB962C8B-B14F-4D97-AF65-F5344CB8AC3E}">
        <p14:creationId xmlns:p14="http://schemas.microsoft.com/office/powerpoint/2010/main" val="223902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55515367-73FC-49CE-ABB0-F567DB45300C}"/>
              </a:ext>
            </a:extLst>
          </p:cNvPr>
          <p:cNvSpPr txBox="1">
            <a:spLocks/>
          </p:cNvSpPr>
          <p:nvPr/>
        </p:nvSpPr>
        <p:spPr>
          <a:xfrm>
            <a:off x="8205479" y="6134100"/>
            <a:ext cx="7973041" cy="1447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2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598" b="1" i="0" u="none" strike="noStrike" kern="1200" cap="none" spc="0" normalizeH="0" baseline="0" dirty="0">
                <a:ln>
                  <a:noFill/>
                </a:ln>
                <a:solidFill>
                  <a:srgbClr val="1F3FB7"/>
                </a:solidFill>
                <a:effectLst/>
                <a:uFillTx/>
                <a:latin typeface="Arial Black" panose="020B0604020202020204" pitchFamily="34" charset="0"/>
                <a:ea typeface="+mj-ea"/>
                <a:cs typeface="+mj-cs"/>
                <a:sym typeface="Raleway Black"/>
              </a:defRPr>
            </a:lvl1pPr>
          </a:lstStyle>
          <a:p>
            <a:pPr marL="0" marR="0" lvl="0" indent="0" algn="l" defTabSz="82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aleway Black"/>
                <a:ea typeface="+mj-ea"/>
                <a:cs typeface="+mj-cs"/>
                <a:sym typeface="Helvetica Neue"/>
              </a:rPr>
              <a:t>Cell based assays</a:t>
            </a:r>
            <a:endParaRPr kumimoji="0" lang="en-US" sz="5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Raleway Black"/>
              <a:ea typeface="+mj-ea"/>
              <a:cs typeface="+mj-cs"/>
              <a:sym typeface="Raleway Black"/>
            </a:endParaRPr>
          </a:p>
        </p:txBody>
      </p:sp>
    </p:spTree>
    <p:extLst>
      <p:ext uri="{BB962C8B-B14F-4D97-AF65-F5344CB8AC3E}">
        <p14:creationId xmlns:p14="http://schemas.microsoft.com/office/powerpoint/2010/main" val="37483769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C675B73C-7807-42A9-8579-9CC67C8A4894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9025969" y="6065259"/>
            <a:ext cx="3511296" cy="248716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C1023D7-2F80-4E3B-8B85-590E9860A025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378627" y="6070015"/>
            <a:ext cx="3511296" cy="248716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DA2037C-E4DC-4194-9436-E29EC00CC7C5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927" y="6056378"/>
            <a:ext cx="3511296" cy="248716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64BFD54-BAD3-4342-BB04-7284230697AC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9013240" y="3424747"/>
            <a:ext cx="3511296" cy="2487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03E1CF-72E6-492F-8B66-EFBD6BB4E393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5378627" y="3418283"/>
            <a:ext cx="3511296" cy="24871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72371A-DFAD-4C5E-8C42-BE3B3EAA3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8523" y="3400314"/>
            <a:ext cx="3513057" cy="248571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357CD2-862D-4E16-8CF3-F81F1791158F}"/>
              </a:ext>
            </a:extLst>
          </p:cNvPr>
          <p:cNvSpPr txBox="1">
            <a:spLocks/>
          </p:cNvSpPr>
          <p:nvPr/>
        </p:nvSpPr>
        <p:spPr>
          <a:xfrm>
            <a:off x="1790940" y="215245"/>
            <a:ext cx="22377356" cy="104818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2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598" b="1" i="0" u="none" strike="noStrike" kern="1200" cap="none" spc="0" normalizeH="0" baseline="0" dirty="0">
                <a:ln>
                  <a:noFill/>
                </a:ln>
                <a:solidFill>
                  <a:srgbClr val="1F3FB7"/>
                </a:solidFill>
                <a:effectLst/>
                <a:uFillTx/>
                <a:latin typeface="Arial Black" panose="020B0604020202020204" pitchFamily="34" charset="0"/>
                <a:ea typeface="+mj-ea"/>
                <a:cs typeface="+mj-cs"/>
                <a:sym typeface="Raleway Black"/>
              </a:defRPr>
            </a:lvl1pPr>
          </a:lstStyle>
          <a:p>
            <a:r>
              <a:rPr lang="en-US" sz="5000">
                <a:latin typeface="Arial" panose="020B0604020202020204" pitchFamily="34" charset="0"/>
                <a:cs typeface="Arial" panose="020B0604020202020204" pitchFamily="34" charset="0"/>
              </a:rPr>
              <a:t>Case study: Cell Proliferation by Cell Titre Glo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BF951-5DBE-43C5-8D30-33DD99836E56}"/>
              </a:ext>
            </a:extLst>
          </p:cNvPr>
          <p:cNvSpPr txBox="1"/>
          <p:nvPr/>
        </p:nvSpPr>
        <p:spPr>
          <a:xfrm>
            <a:off x="2061840" y="1292535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F2E8C9-66A7-4320-A973-239D13C0DA8E}"/>
              </a:ext>
            </a:extLst>
          </p:cNvPr>
          <p:cNvSpPr txBox="1"/>
          <p:nvPr/>
        </p:nvSpPr>
        <p:spPr>
          <a:xfrm>
            <a:off x="11668523" y="9789878"/>
            <a:ext cx="79128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Quantification: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Luminescence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Envision 2105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a) 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CV –  &lt; 20 %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b) Z’  &gt; 0.5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c) Signal Window : 25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08F5F-5225-4B7E-BD21-581DF28715C4}"/>
              </a:ext>
            </a:extLst>
          </p:cNvPr>
          <p:cNvSpPr txBox="1"/>
          <p:nvPr/>
        </p:nvSpPr>
        <p:spPr>
          <a:xfrm>
            <a:off x="11712802" y="2014536"/>
            <a:ext cx="110813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Cell Number  &amp; Treatment Time Optimization in </a:t>
            </a:r>
            <a:r>
              <a:rPr lang="en-US" sz="32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HT29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65F2F-1D61-4061-85BB-FF40710EC27E}"/>
              </a:ext>
            </a:extLst>
          </p:cNvPr>
          <p:cNvSpPr txBox="1"/>
          <p:nvPr/>
        </p:nvSpPr>
        <p:spPr>
          <a:xfrm>
            <a:off x="3039035" y="5196294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High signal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9FFA6-6E6F-4417-A0FC-6D7E3D5FB93D}"/>
              </a:ext>
            </a:extLst>
          </p:cNvPr>
          <p:cNvSpPr txBox="1"/>
          <p:nvPr/>
        </p:nvSpPr>
        <p:spPr>
          <a:xfrm>
            <a:off x="7124693" y="5178493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No signal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34EDE-976A-40F4-948E-DEC551F90B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4192" y="1867180"/>
            <a:ext cx="7661615" cy="420699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F2A27D3-02DE-4B7F-96DE-F2D16B915405}"/>
              </a:ext>
            </a:extLst>
          </p:cNvPr>
          <p:cNvGrpSpPr/>
          <p:nvPr/>
        </p:nvGrpSpPr>
        <p:grpSpPr>
          <a:xfrm>
            <a:off x="10537768" y="2819035"/>
            <a:ext cx="11688457" cy="4550706"/>
            <a:chOff x="11400143" y="2727832"/>
            <a:chExt cx="11688457" cy="455070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2E90E72-0D7B-48A0-9B39-8FE3598FDF76}"/>
                </a:ext>
              </a:extLst>
            </p:cNvPr>
            <p:cNvGrpSpPr/>
            <p:nvPr/>
          </p:nvGrpSpPr>
          <p:grpSpPr>
            <a:xfrm>
              <a:off x="11400143" y="4433586"/>
              <a:ext cx="1091351" cy="2844952"/>
              <a:chOff x="10126845" y="4038600"/>
              <a:chExt cx="1091351" cy="284495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78ABE1-5AA3-48AA-A5C8-CB7F8B67191C}"/>
                  </a:ext>
                </a:extLst>
              </p:cNvPr>
              <p:cNvSpPr txBox="1"/>
              <p:nvPr/>
            </p:nvSpPr>
            <p:spPr>
              <a:xfrm>
                <a:off x="10126845" y="6421887"/>
                <a:ext cx="1026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255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Neue"/>
                  </a:rPr>
                  <a:t>Day 5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B5F29B-A594-4346-B4AF-5E3A0B43DB44}"/>
                  </a:ext>
                </a:extLst>
              </p:cNvPr>
              <p:cNvSpPr txBox="1"/>
              <p:nvPr/>
            </p:nvSpPr>
            <p:spPr>
              <a:xfrm>
                <a:off x="10192060" y="4038600"/>
                <a:ext cx="1026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255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Neue"/>
                  </a:rPr>
                  <a:t>Day 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3C567A9-C3F7-441B-A87C-9E607D0DDB2A}"/>
                </a:ext>
              </a:extLst>
            </p:cNvPr>
            <p:cNvGrpSpPr/>
            <p:nvPr/>
          </p:nvGrpSpPr>
          <p:grpSpPr>
            <a:xfrm>
              <a:off x="13284560" y="2727832"/>
              <a:ext cx="9804040" cy="480663"/>
              <a:chOff x="13284560" y="2837694"/>
              <a:chExt cx="9804040" cy="48066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B57FBA-7575-43D7-B3E1-4B1058023E07}"/>
                  </a:ext>
                </a:extLst>
              </p:cNvPr>
              <p:cNvSpPr txBox="1"/>
              <p:nvPr/>
            </p:nvSpPr>
            <p:spPr>
              <a:xfrm>
                <a:off x="13284560" y="2850421"/>
                <a:ext cx="22007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255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Neue"/>
                  </a:rPr>
                  <a:t>250 cells/well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3052FD-802C-47E1-AE45-08DF4BCFD58C}"/>
                  </a:ext>
                </a:extLst>
              </p:cNvPr>
              <p:cNvSpPr txBox="1"/>
              <p:nvPr/>
            </p:nvSpPr>
            <p:spPr>
              <a:xfrm>
                <a:off x="16955928" y="2856692"/>
                <a:ext cx="22007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255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Neue"/>
                  </a:rPr>
                  <a:t>500 cells/well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759319-41F3-4ED4-BC6D-8063EBE1BEFE}"/>
                  </a:ext>
                </a:extLst>
              </p:cNvPr>
              <p:cNvSpPr txBox="1"/>
              <p:nvPr/>
            </p:nvSpPr>
            <p:spPr>
              <a:xfrm>
                <a:off x="20520180" y="2837694"/>
                <a:ext cx="2568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255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Neue"/>
                  </a:rPr>
                  <a:t>1000 cells/well</a:t>
                </a:r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20F2BD3-E75F-4FB2-993E-704378000685}"/>
              </a:ext>
            </a:extLst>
          </p:cNvPr>
          <p:cNvSpPr txBox="1"/>
          <p:nvPr/>
        </p:nvSpPr>
        <p:spPr>
          <a:xfrm>
            <a:off x="11774886" y="8782473"/>
            <a:ext cx="96522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From the above experiment Day 5 with 500 cells/well were taken forward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1509C4-1EFC-4710-BE86-B3152008F559}"/>
              </a:ext>
            </a:extLst>
          </p:cNvPr>
          <p:cNvSpPr txBox="1"/>
          <p:nvPr/>
        </p:nvSpPr>
        <p:spPr>
          <a:xfrm>
            <a:off x="12422185" y="3811635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5.4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µM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CB6281-2D93-40BC-96F4-5512E344CE70}"/>
              </a:ext>
            </a:extLst>
          </p:cNvPr>
          <p:cNvSpPr txBox="1"/>
          <p:nvPr/>
        </p:nvSpPr>
        <p:spPr>
          <a:xfrm>
            <a:off x="16093553" y="3937035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3.7 µM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8231B4-1E00-4A5A-B98A-585948D7BB59}"/>
              </a:ext>
            </a:extLst>
          </p:cNvPr>
          <p:cNvSpPr txBox="1"/>
          <p:nvPr/>
        </p:nvSpPr>
        <p:spPr>
          <a:xfrm>
            <a:off x="19657805" y="3908309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4.4 µM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E22988-1B45-4BAF-B9DF-FFCE2595FE9A}"/>
              </a:ext>
            </a:extLst>
          </p:cNvPr>
          <p:cNvSpPr txBox="1"/>
          <p:nvPr/>
        </p:nvSpPr>
        <p:spPr>
          <a:xfrm>
            <a:off x="12373271" y="6536774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2.1 µM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AB31F4-33B9-471A-8CA4-5C77D553C861}"/>
              </a:ext>
            </a:extLst>
          </p:cNvPr>
          <p:cNvSpPr txBox="1"/>
          <p:nvPr/>
        </p:nvSpPr>
        <p:spPr>
          <a:xfrm>
            <a:off x="16093553" y="6536773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1.8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µM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D016C9-3187-41AA-87AD-B01D739C728F}"/>
              </a:ext>
            </a:extLst>
          </p:cNvPr>
          <p:cNvSpPr txBox="1"/>
          <p:nvPr/>
        </p:nvSpPr>
        <p:spPr>
          <a:xfrm>
            <a:off x="19657805" y="6510536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3.7 µM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14B2196-58F5-4DB4-8078-5FDDB962DA42}"/>
              </a:ext>
            </a:extLst>
          </p:cNvPr>
          <p:cNvGrpSpPr/>
          <p:nvPr/>
        </p:nvGrpSpPr>
        <p:grpSpPr>
          <a:xfrm>
            <a:off x="1672532" y="6446812"/>
            <a:ext cx="7908165" cy="6218091"/>
            <a:chOff x="1418801" y="6005676"/>
            <a:chExt cx="5718870" cy="5829487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61E0631C-41E4-4F9E-A6C0-BB7CED9DBDE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55497864"/>
                </p:ext>
              </p:extLst>
            </p:nvPr>
          </p:nvGraphicFramePr>
          <p:xfrm>
            <a:off x="1418801" y="6005676"/>
            <a:ext cx="5718870" cy="582948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7564CA2-BDC8-4F6D-BE60-338B3954618C}"/>
                </a:ext>
              </a:extLst>
            </p:cNvPr>
            <p:cNvSpPr txBox="1"/>
            <p:nvPr/>
          </p:nvSpPr>
          <p:spPr>
            <a:xfrm>
              <a:off x="4543804" y="9462620"/>
              <a:ext cx="2432485" cy="663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 defTabSz="412750">
                <a:defRPr/>
              </a:pPr>
              <a:r>
                <a:rPr lang="en-US" sz="2000" b="0" dirty="0">
                  <a:latin typeface="Arial" panose="020B0604020202020204" pitchFamily="34" charset="0"/>
                  <a:cs typeface="Arial" panose="020B0604020202020204" pitchFamily="34" charset="0"/>
                </a:rPr>
                <a:t>Incubation for 3, 5 days, 37°C, 5 % CO</a:t>
              </a:r>
              <a:r>
                <a:rPr lang="en-US" sz="2000" b="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E1390D2-0A36-4580-A364-8A7BC848A739}"/>
              </a:ext>
            </a:extLst>
          </p:cNvPr>
          <p:cNvSpPr txBox="1"/>
          <p:nvPr/>
        </p:nvSpPr>
        <p:spPr>
          <a:xfrm>
            <a:off x="5555164" y="8117868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Overnight, 37°C, 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975B82-943C-40E1-979D-780F681453AA}"/>
              </a:ext>
            </a:extLst>
          </p:cNvPr>
          <p:cNvSpPr txBox="1"/>
          <p:nvPr/>
        </p:nvSpPr>
        <p:spPr>
          <a:xfrm>
            <a:off x="1768146" y="5998043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Brief Protocol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0431B3-A50F-4D53-BC31-03E539493D14}"/>
              </a:ext>
            </a:extLst>
          </p:cNvPr>
          <p:cNvSpPr txBox="1"/>
          <p:nvPr/>
        </p:nvSpPr>
        <p:spPr>
          <a:xfrm>
            <a:off x="2899778" y="12764724"/>
            <a:ext cx="60537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8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 Used- </a:t>
            </a:r>
            <a:r>
              <a:rPr lang="en-US" sz="1800" dirty="0" err="1">
                <a:solidFill>
                  <a:srgbClr val="333333"/>
                </a:solidFill>
                <a:latin typeface="Roboto"/>
              </a:rPr>
              <a:t>CellTiter</a:t>
            </a:r>
            <a:r>
              <a:rPr lang="en-US" sz="1800" dirty="0">
                <a:solidFill>
                  <a:srgbClr val="333333"/>
                </a:solidFill>
                <a:latin typeface="Roboto"/>
              </a:rPr>
              <a:t>-Glo®</a:t>
            </a:r>
            <a:r>
              <a:rPr lang="en-US" sz="1800" i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Promega (G7571)</a:t>
            </a:r>
          </a:p>
        </p:txBody>
      </p:sp>
    </p:spTree>
    <p:extLst>
      <p:ext uri="{BB962C8B-B14F-4D97-AF65-F5344CB8AC3E}">
        <p14:creationId xmlns:p14="http://schemas.microsoft.com/office/powerpoint/2010/main" val="18501168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7644-5C71-4B34-B9E0-EB4868334F2E}"/>
              </a:ext>
            </a:extLst>
          </p:cNvPr>
          <p:cNvSpPr txBox="1">
            <a:spLocks/>
          </p:cNvSpPr>
          <p:nvPr/>
        </p:nvSpPr>
        <p:spPr>
          <a:xfrm>
            <a:off x="1790940" y="64415"/>
            <a:ext cx="22377356" cy="104818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2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598" b="1" i="0" u="none" strike="noStrike" kern="1200" cap="none" spc="0" normalizeH="0" baseline="0" dirty="0">
                <a:ln>
                  <a:noFill/>
                </a:ln>
                <a:solidFill>
                  <a:srgbClr val="1F3FB7"/>
                </a:solidFill>
                <a:effectLst/>
                <a:uFillTx/>
                <a:latin typeface="Arial Black" panose="020B0604020202020204" pitchFamily="34" charset="0"/>
                <a:ea typeface="+mj-ea"/>
                <a:cs typeface="+mj-cs"/>
                <a:sym typeface="Raleway Black"/>
              </a:defRPr>
            </a:lvl1pPr>
          </a:lstStyle>
          <a:p>
            <a:r>
              <a:rPr lang="en-US" sz="5000">
                <a:solidFill>
                  <a:schemeClr val="accent1">
                    <a:lumMod val="75000"/>
                  </a:schemeClr>
                </a:solidFill>
                <a:latin typeface="Raleway Black" pitchFamily="2" charset="0"/>
              </a:rPr>
              <a:t>In-vitro Selectivity assay - HiBiT assay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707A0-4A17-4312-AA97-B761EF73A136}"/>
              </a:ext>
            </a:extLst>
          </p:cNvPr>
          <p:cNvSpPr txBox="1"/>
          <p:nvPr/>
        </p:nvSpPr>
        <p:spPr>
          <a:xfrm>
            <a:off x="12795048" y="6487987"/>
            <a:ext cx="10017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Plate format: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384-well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Quantification: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Luminescence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Victor X5 multimode plate reader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a) 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CV: &lt; 20 %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b) Z’: &gt; 0.4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c) </a:t>
            </a:r>
            <a:r>
              <a:rPr lang="en-US" sz="2800" b="0" kern="1200" dirty="0">
                <a:solidFill>
                  <a:prstClr val="black"/>
                </a:solidFill>
                <a:latin typeface="Avenir Next" panose="020B0503020202020204"/>
                <a:ea typeface="+mn-ea"/>
                <a:cs typeface="Times New Roman" panose="02020603050405020304" pitchFamily="18" charset="0"/>
              </a:rPr>
              <a:t>Signal Window : 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E6BBB-9F8E-442A-8CE5-0B50499C990B}"/>
              </a:ext>
            </a:extLst>
          </p:cNvPr>
          <p:cNvSpPr txBox="1"/>
          <p:nvPr/>
        </p:nvSpPr>
        <p:spPr>
          <a:xfrm>
            <a:off x="12795048" y="1518947"/>
            <a:ext cx="7648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DRC of tool compound in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HiBiT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cell 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1EECB6-6FE8-4AF6-B1E8-A0882884BE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46"/>
          <a:stretch/>
        </p:blipFill>
        <p:spPr>
          <a:xfrm>
            <a:off x="12979618" y="2179235"/>
            <a:ext cx="5737251" cy="41315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601A84-6389-4F70-BC7F-4F02BA17EF13}"/>
              </a:ext>
            </a:extLst>
          </p:cNvPr>
          <p:cNvSpPr txBox="1"/>
          <p:nvPr/>
        </p:nvSpPr>
        <p:spPr>
          <a:xfrm>
            <a:off x="1790939" y="1387780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EFA99-6A85-4A74-BC88-AFB1C8108B2C}"/>
              </a:ext>
            </a:extLst>
          </p:cNvPr>
          <p:cNvSpPr txBox="1"/>
          <p:nvPr/>
        </p:nvSpPr>
        <p:spPr>
          <a:xfrm>
            <a:off x="1790938" y="5122374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Brief Protocol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ABA894-62FF-4031-91D6-419A48A4299C}"/>
              </a:ext>
            </a:extLst>
          </p:cNvPr>
          <p:cNvGrpSpPr/>
          <p:nvPr/>
        </p:nvGrpSpPr>
        <p:grpSpPr>
          <a:xfrm>
            <a:off x="1790940" y="2195106"/>
            <a:ext cx="10058400" cy="2743200"/>
            <a:chOff x="1790940" y="1643289"/>
            <a:chExt cx="10058400" cy="27432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91511E2-4B10-43E6-86D6-98336CB587E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/>
            <a:srcRect l="4597" t="8947"/>
            <a:stretch/>
          </p:blipFill>
          <p:spPr>
            <a:xfrm>
              <a:off x="1790940" y="1643289"/>
              <a:ext cx="5029200" cy="27432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8DCD4E6-6E70-42DC-B5B9-0E70C20626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20140" y="1643289"/>
              <a:ext cx="5029200" cy="27432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1A7A26-CFFC-493D-98CD-9CED47649524}"/>
              </a:ext>
            </a:extLst>
          </p:cNvPr>
          <p:cNvGrpSpPr/>
          <p:nvPr/>
        </p:nvGrpSpPr>
        <p:grpSpPr>
          <a:xfrm>
            <a:off x="1918639" y="5676372"/>
            <a:ext cx="7908165" cy="6218091"/>
            <a:chOff x="1418801" y="6005676"/>
            <a:chExt cx="5718870" cy="5829487"/>
          </a:xfrm>
        </p:grpSpPr>
        <p:graphicFrame>
          <p:nvGraphicFramePr>
            <p:cNvPr id="18" name="Diagram 17">
              <a:extLst>
                <a:ext uri="{FF2B5EF4-FFF2-40B4-BE49-F238E27FC236}">
                  <a16:creationId xmlns:a16="http://schemas.microsoft.com/office/drawing/2014/main" id="{E9BF3502-3293-4A38-BC0F-98BE7BB3158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81954499"/>
                </p:ext>
              </p:extLst>
            </p:nvPr>
          </p:nvGraphicFramePr>
          <p:xfrm>
            <a:off x="1418801" y="6005676"/>
            <a:ext cx="5718870" cy="582948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7ACED6-C532-4F96-8BBD-33BFF08146D7}"/>
                </a:ext>
              </a:extLst>
            </p:cNvPr>
            <p:cNvSpPr txBox="1"/>
            <p:nvPr/>
          </p:nvSpPr>
          <p:spPr>
            <a:xfrm>
              <a:off x="4543804" y="9617436"/>
              <a:ext cx="2432485" cy="663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 defTabSz="412750">
                <a:defRPr/>
              </a:pPr>
              <a:r>
                <a:rPr lang="en-US" sz="2000" b="0" dirty="0">
                  <a:latin typeface="Arial" panose="020B0604020202020204" pitchFamily="34" charset="0"/>
                  <a:cs typeface="Arial" panose="020B0604020202020204" pitchFamily="34" charset="0"/>
                </a:rPr>
                <a:t>Incubation for 24 </a:t>
              </a:r>
              <a:r>
                <a:rPr lang="en-US" sz="2000" b="0" dirty="0" err="1">
                  <a:latin typeface="Arial" panose="020B0604020202020204" pitchFamily="34" charset="0"/>
                  <a:cs typeface="Arial" panose="020B0604020202020204" pitchFamily="34" charset="0"/>
                </a:rPr>
                <a:t>hr</a:t>
              </a:r>
              <a:r>
                <a:rPr lang="en-US" sz="2000" b="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pPr lvl="0" algn="l" defTabSz="412750">
                <a:defRPr/>
              </a:pPr>
              <a:r>
                <a:rPr lang="en-US" sz="2000" b="0" dirty="0">
                  <a:latin typeface="Arial" panose="020B0604020202020204" pitchFamily="34" charset="0"/>
                  <a:cs typeface="Arial" panose="020B0604020202020204" pitchFamily="34" charset="0"/>
                </a:rPr>
                <a:t>37°C, 5 % CO</a:t>
              </a:r>
              <a:r>
                <a:rPr lang="en-US" sz="2000" b="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CC14167-35FC-451B-8AC7-414768AA666D}"/>
              </a:ext>
            </a:extLst>
          </p:cNvPr>
          <p:cNvSpPr txBox="1"/>
          <p:nvPr/>
        </p:nvSpPr>
        <p:spPr>
          <a:xfrm>
            <a:off x="5733248" y="7471109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Overnight, 37°C, 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545E65-CC0A-458D-8B68-1BCFCE4B9E57}"/>
              </a:ext>
            </a:extLst>
          </p:cNvPr>
          <p:cNvSpPr txBox="1"/>
          <p:nvPr/>
        </p:nvSpPr>
        <p:spPr>
          <a:xfrm>
            <a:off x="1956819" y="12169304"/>
            <a:ext cx="786998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8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 Used- </a:t>
            </a:r>
            <a:r>
              <a:rPr lang="en-US" sz="1800" dirty="0"/>
              <a:t>Nano-Glo® </a:t>
            </a:r>
            <a:r>
              <a:rPr lang="en-US" sz="1800" dirty="0" err="1"/>
              <a:t>HiBiT</a:t>
            </a:r>
            <a:r>
              <a:rPr lang="en-US" sz="1800" dirty="0"/>
              <a:t> Lytic Detection System</a:t>
            </a:r>
            <a:r>
              <a:rPr lang="en-US" sz="1800" i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Promega (N3040)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D0FF63-3217-46A2-A516-2CF26A80B37E}"/>
              </a:ext>
            </a:extLst>
          </p:cNvPr>
          <p:cNvSpPr txBox="1"/>
          <p:nvPr/>
        </p:nvSpPr>
        <p:spPr>
          <a:xfrm>
            <a:off x="10275530" y="11540734"/>
            <a:ext cx="1189867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 defTabSz="1828800" hangingPunct="1"/>
            <a:r>
              <a:rPr lang="en-US" sz="2400" b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1300 compounds screened for an FTE programme using this assay technology. </a:t>
            </a:r>
            <a:r>
              <a:rPr lang="en-US" sz="2400" b="0" kern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HiBiT</a:t>
            </a:r>
            <a:r>
              <a:rPr lang="en-US" sz="2400" b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cell line was provided by client.. </a:t>
            </a:r>
          </a:p>
        </p:txBody>
      </p:sp>
    </p:spTree>
    <p:extLst>
      <p:ext uri="{BB962C8B-B14F-4D97-AF65-F5344CB8AC3E}">
        <p14:creationId xmlns:p14="http://schemas.microsoft.com/office/powerpoint/2010/main" val="23579693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7896E7-504A-4EE5-A050-4BD9D8574327}"/>
              </a:ext>
            </a:extLst>
          </p:cNvPr>
          <p:cNvSpPr/>
          <p:nvPr/>
        </p:nvSpPr>
        <p:spPr>
          <a:xfrm>
            <a:off x="0" y="438331"/>
            <a:ext cx="24384001" cy="1228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800" dirty="0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NanoBRET Target Engagement Intracellular kinase Assay</a:t>
            </a:r>
          </a:p>
          <a:p>
            <a:pPr algn="l"/>
            <a:endParaRPr lang="en-IN" sz="4800" dirty="0">
              <a:solidFill>
                <a:srgbClr val="1C3CB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/>
          <a:srcRect t="10714" b="28499"/>
          <a:stretch/>
        </p:blipFill>
        <p:spPr>
          <a:xfrm>
            <a:off x="9723661" y="1765644"/>
            <a:ext cx="7824362" cy="53532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966700-F63B-4B24-B9E0-DCD9BCFAD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70" y="1855258"/>
            <a:ext cx="7140033" cy="32174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7468206-575E-4DF9-AF05-2CD231DC47F5}"/>
              </a:ext>
            </a:extLst>
          </p:cNvPr>
          <p:cNvSpPr txBox="1"/>
          <p:nvPr/>
        </p:nvSpPr>
        <p:spPr>
          <a:xfrm>
            <a:off x="1007168" y="1219048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64342452-0626-497D-B110-533CD7C422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9239862"/>
              </p:ext>
            </p:extLst>
          </p:nvPr>
        </p:nvGraphicFramePr>
        <p:xfrm>
          <a:off x="1007167" y="5512363"/>
          <a:ext cx="7824361" cy="6984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4BD408B-1473-46C8-9BB2-83C017B50254}"/>
              </a:ext>
            </a:extLst>
          </p:cNvPr>
          <p:cNvSpPr txBox="1"/>
          <p:nvPr/>
        </p:nvSpPr>
        <p:spPr>
          <a:xfrm>
            <a:off x="1007167" y="4958364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Brief Protocol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682F93-2D7A-4882-AC01-149F90328383}"/>
              </a:ext>
            </a:extLst>
          </p:cNvPr>
          <p:cNvSpPr txBox="1"/>
          <p:nvPr/>
        </p:nvSpPr>
        <p:spPr>
          <a:xfrm>
            <a:off x="4532675" y="7676248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Overnight, 37°C, 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60FFED-7E64-43B6-8925-C87CB08B94B1}"/>
              </a:ext>
            </a:extLst>
          </p:cNvPr>
          <p:cNvSpPr txBox="1"/>
          <p:nvPr/>
        </p:nvSpPr>
        <p:spPr>
          <a:xfrm>
            <a:off x="4285412" y="9157953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2hrs, 37°C, 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4ECC5-4172-4131-8BB3-09A54527480D}"/>
              </a:ext>
            </a:extLst>
          </p:cNvPr>
          <p:cNvSpPr txBox="1"/>
          <p:nvPr/>
        </p:nvSpPr>
        <p:spPr>
          <a:xfrm>
            <a:off x="15067414" y="3811635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0.03 µM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B5E8D8-9FF6-40AF-8117-BB87C8B23F25}"/>
              </a:ext>
            </a:extLst>
          </p:cNvPr>
          <p:cNvSpPr txBox="1"/>
          <p:nvPr/>
        </p:nvSpPr>
        <p:spPr>
          <a:xfrm>
            <a:off x="9723661" y="7372849"/>
            <a:ext cx="10017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Plate format: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96 well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Quantification: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Luminescence &amp; Fluorescence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Envision 2105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a) 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CV: &lt; 20 %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b) Z’: &gt; 0.5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c) </a:t>
            </a:r>
            <a:r>
              <a:rPr lang="en-US" sz="2800" b="0" kern="1200" dirty="0">
                <a:solidFill>
                  <a:prstClr val="black"/>
                </a:solidFill>
                <a:latin typeface="Avenir Next" panose="020B0503020202020204"/>
                <a:ea typeface="+mn-ea"/>
                <a:cs typeface="Times New Roman" panose="02020603050405020304" pitchFamily="18" charset="0"/>
              </a:rPr>
              <a:t>Signal Window : 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D740B3-A904-4F50-A573-A39639BE30D4}"/>
              </a:ext>
            </a:extLst>
          </p:cNvPr>
          <p:cNvSpPr txBox="1"/>
          <p:nvPr/>
        </p:nvSpPr>
        <p:spPr>
          <a:xfrm>
            <a:off x="1007168" y="12661479"/>
            <a:ext cx="786998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8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 Used- </a:t>
            </a:r>
            <a:r>
              <a:rPr lang="en-US" sz="1800" dirty="0" err="1">
                <a:solidFill>
                  <a:srgbClr val="333333"/>
                </a:solidFill>
                <a:latin typeface="Roboto"/>
              </a:rPr>
              <a:t>NanoBRET</a:t>
            </a:r>
            <a:r>
              <a:rPr lang="en-US" sz="1800" dirty="0">
                <a:solidFill>
                  <a:srgbClr val="333333"/>
                </a:solidFill>
                <a:latin typeface="Roboto"/>
              </a:rPr>
              <a:t>™ TE Intracellular Assay - </a:t>
            </a:r>
            <a:r>
              <a:rPr lang="en-US" sz="1800" i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Promega (N2630)</a:t>
            </a:r>
          </a:p>
        </p:txBody>
      </p:sp>
    </p:spTree>
    <p:extLst>
      <p:ext uri="{BB962C8B-B14F-4D97-AF65-F5344CB8AC3E}">
        <p14:creationId xmlns:p14="http://schemas.microsoft.com/office/powerpoint/2010/main" val="306867081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82FB4EB-6CD4-4666-8E8A-0042EDF4A9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67"/>
          <a:stretch/>
        </p:blipFill>
        <p:spPr>
          <a:xfrm>
            <a:off x="9838696" y="2021305"/>
            <a:ext cx="6784187" cy="4344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7896E7-504A-4EE5-A050-4BD9D8574327}"/>
              </a:ext>
            </a:extLst>
          </p:cNvPr>
          <p:cNvSpPr/>
          <p:nvPr/>
        </p:nvSpPr>
        <p:spPr>
          <a:xfrm>
            <a:off x="0" y="438331"/>
            <a:ext cx="24384001" cy="1228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800" dirty="0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NanoBiT</a:t>
            </a:r>
            <a:r>
              <a:rPr lang="en-US" sz="4800" dirty="0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Assay</a:t>
            </a:r>
          </a:p>
          <a:p>
            <a:pPr algn="l"/>
            <a:endParaRPr lang="en-IN" sz="4800" dirty="0">
              <a:solidFill>
                <a:srgbClr val="1C3CB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468206-575E-4DF9-AF05-2CD231DC47F5}"/>
              </a:ext>
            </a:extLst>
          </p:cNvPr>
          <p:cNvSpPr txBox="1"/>
          <p:nvPr/>
        </p:nvSpPr>
        <p:spPr>
          <a:xfrm>
            <a:off x="1007168" y="1219048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64342452-0626-497D-B110-533CD7C422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1476617"/>
              </p:ext>
            </p:extLst>
          </p:nvPr>
        </p:nvGraphicFramePr>
        <p:xfrm>
          <a:off x="1007167" y="5512363"/>
          <a:ext cx="7824361" cy="6984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4BD408B-1473-46C8-9BB2-83C017B50254}"/>
              </a:ext>
            </a:extLst>
          </p:cNvPr>
          <p:cNvSpPr txBox="1"/>
          <p:nvPr/>
        </p:nvSpPr>
        <p:spPr>
          <a:xfrm>
            <a:off x="1007167" y="4958364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Brief Protocol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682F93-2D7A-4882-AC01-149F90328383}"/>
              </a:ext>
            </a:extLst>
          </p:cNvPr>
          <p:cNvSpPr txBox="1"/>
          <p:nvPr/>
        </p:nvSpPr>
        <p:spPr>
          <a:xfrm>
            <a:off x="4642789" y="7088748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Incubate at RT for 20 mins</a:t>
            </a:r>
            <a:endParaRPr lang="en-US" sz="2000" b="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60FFED-7E64-43B6-8925-C87CB08B94B1}"/>
              </a:ext>
            </a:extLst>
          </p:cNvPr>
          <p:cNvSpPr txBox="1"/>
          <p:nvPr/>
        </p:nvSpPr>
        <p:spPr>
          <a:xfrm>
            <a:off x="4824163" y="9211626"/>
            <a:ext cx="3912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Overnight incubation37°C, </a:t>
            </a:r>
          </a:p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4ECC5-4172-4131-8BB3-09A54527480D}"/>
              </a:ext>
            </a:extLst>
          </p:cNvPr>
          <p:cNvSpPr txBox="1"/>
          <p:nvPr/>
        </p:nvSpPr>
        <p:spPr>
          <a:xfrm>
            <a:off x="15067414" y="3811635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Amax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3.12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µM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B5E8D8-9FF6-40AF-8117-BB87C8B23F25}"/>
              </a:ext>
            </a:extLst>
          </p:cNvPr>
          <p:cNvSpPr txBox="1"/>
          <p:nvPr/>
        </p:nvSpPr>
        <p:spPr>
          <a:xfrm>
            <a:off x="9723661" y="7372849"/>
            <a:ext cx="10017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Plate format: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96 well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Quantification: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Luminescence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Envision 2105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a) 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CV: &lt; 20 %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b) Z’: &gt; 0.5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c) </a:t>
            </a:r>
            <a:r>
              <a:rPr lang="en-US" sz="2800" b="0" kern="1200" dirty="0">
                <a:solidFill>
                  <a:prstClr val="black"/>
                </a:solidFill>
                <a:latin typeface="Avenir Next" panose="020B0503020202020204"/>
                <a:ea typeface="+mn-ea"/>
                <a:cs typeface="Times New Roman" panose="02020603050405020304" pitchFamily="18" charset="0"/>
              </a:rPr>
              <a:t>Signal Window : 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D740B3-A904-4F50-A573-A39639BE30D4}"/>
              </a:ext>
            </a:extLst>
          </p:cNvPr>
          <p:cNvSpPr txBox="1"/>
          <p:nvPr/>
        </p:nvSpPr>
        <p:spPr>
          <a:xfrm>
            <a:off x="1586909" y="12625995"/>
            <a:ext cx="786998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8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 Used- </a:t>
            </a:r>
            <a:r>
              <a:rPr lang="en-US" sz="1800" kern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Nanoglo</a:t>
            </a:r>
            <a:r>
              <a:rPr lang="en-US" sz="18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Live Assay System</a:t>
            </a:r>
            <a:r>
              <a:rPr lang="en-US" sz="1800" dirty="0">
                <a:solidFill>
                  <a:srgbClr val="333333"/>
                </a:solidFill>
                <a:latin typeface="Roboto"/>
              </a:rPr>
              <a:t>- </a:t>
            </a:r>
            <a:r>
              <a:rPr lang="en-US" sz="1800" i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Promega (N2012)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2345DC-6BE0-43F2-867E-A1401656A143}"/>
              </a:ext>
            </a:extLst>
          </p:cNvPr>
          <p:cNvSpPr txBox="1"/>
          <p:nvPr/>
        </p:nvSpPr>
        <p:spPr>
          <a:xfrm>
            <a:off x="4733476" y="10980555"/>
            <a:ext cx="3912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Overnight incubation37°C, </a:t>
            </a:r>
          </a:p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75DC69-1F67-4A8F-AD9B-A0E01624AB76}"/>
              </a:ext>
            </a:extLst>
          </p:cNvPr>
          <p:cNvGrpSpPr/>
          <p:nvPr/>
        </p:nvGrpSpPr>
        <p:grpSpPr>
          <a:xfrm>
            <a:off x="1155786" y="1868344"/>
            <a:ext cx="7219665" cy="2960978"/>
            <a:chOff x="1160060" y="1932865"/>
            <a:chExt cx="7219665" cy="29609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04060F-6266-4319-B6F1-A2AB2915AC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032" t="632" r="1990"/>
            <a:stretch/>
          </p:blipFill>
          <p:spPr>
            <a:xfrm>
              <a:off x="1160060" y="1932865"/>
              <a:ext cx="7219665" cy="296097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650CA7-1965-40CB-B209-203776404745}"/>
                </a:ext>
              </a:extLst>
            </p:cNvPr>
            <p:cNvSpPr txBox="1"/>
            <p:nvPr/>
          </p:nvSpPr>
          <p:spPr>
            <a:xfrm>
              <a:off x="1282890" y="2084489"/>
              <a:ext cx="1473958" cy="2900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2129272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DBD2B-7302-49FF-A0C5-853A31BB0E11}"/>
              </a:ext>
            </a:extLst>
          </p:cNvPr>
          <p:cNvSpPr txBox="1"/>
          <p:nvPr/>
        </p:nvSpPr>
        <p:spPr>
          <a:xfrm>
            <a:off x="581890" y="244276"/>
            <a:ext cx="19067891" cy="841256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6600">
                <a:solidFill>
                  <a:srgbClr val="1F3FB7"/>
                </a:solidFill>
                <a:latin typeface="Arial Black" panose="020B0604020202020204" pitchFamily="34" charset="0"/>
                <a:ea typeface="Raleway Black"/>
                <a:cs typeface="Arial Black" panose="020B0604020202020204" pitchFamily="34" charset="0"/>
              </a:defRPr>
            </a:lvl1pPr>
          </a:lstStyle>
          <a:p>
            <a:r>
              <a:rPr lang="en-US" sz="4800" dirty="0">
                <a:latin typeface="Arial Black" panose="020B0A04020102020204" pitchFamily="34" charset="0"/>
              </a:rPr>
              <a:t>Necroptosis Assay (HMGB1 Release)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8722" b="28833"/>
          <a:stretch/>
        </p:blipFill>
        <p:spPr>
          <a:xfrm>
            <a:off x="9528854" y="2043810"/>
            <a:ext cx="7249085" cy="53535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A02B1-F9A8-4068-AB48-6BF803FCC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77" y="1883259"/>
            <a:ext cx="6476474" cy="40861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5F98CF-2BE2-44D7-8BBE-C53564D1E8F1}"/>
              </a:ext>
            </a:extLst>
          </p:cNvPr>
          <p:cNvSpPr txBox="1"/>
          <p:nvPr/>
        </p:nvSpPr>
        <p:spPr>
          <a:xfrm>
            <a:off x="1108104" y="1169191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4C191-E4F5-4A4A-A31B-EB660B2F5CF4}"/>
              </a:ext>
            </a:extLst>
          </p:cNvPr>
          <p:cNvSpPr txBox="1"/>
          <p:nvPr/>
        </p:nvSpPr>
        <p:spPr>
          <a:xfrm>
            <a:off x="1274770" y="5746491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Brief Protocol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2E37946-E07F-48DE-BB18-BCC0208F9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5316553"/>
              </p:ext>
            </p:extLst>
          </p:nvPr>
        </p:nvGraphicFramePr>
        <p:xfrm>
          <a:off x="1108104" y="6192329"/>
          <a:ext cx="7824361" cy="6984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21C3D92-5E0A-4965-B33C-6D0AD87F4D55}"/>
              </a:ext>
            </a:extLst>
          </p:cNvPr>
          <p:cNvSpPr txBox="1"/>
          <p:nvPr/>
        </p:nvSpPr>
        <p:spPr>
          <a:xfrm>
            <a:off x="5020283" y="10366268"/>
            <a:ext cx="4514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16h incubation, 37°C, 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3FA936-BCB3-4545-936B-551BCB29FA48}"/>
              </a:ext>
            </a:extLst>
          </p:cNvPr>
          <p:cNvSpPr txBox="1"/>
          <p:nvPr/>
        </p:nvSpPr>
        <p:spPr>
          <a:xfrm>
            <a:off x="14610214" y="4470153"/>
            <a:ext cx="172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IC50-</a:t>
            </a: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0.587 µM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60D568-ECD7-48A7-838B-6C0D9038D036}"/>
              </a:ext>
            </a:extLst>
          </p:cNvPr>
          <p:cNvSpPr txBox="1"/>
          <p:nvPr/>
        </p:nvSpPr>
        <p:spPr>
          <a:xfrm>
            <a:off x="9601439" y="7714614"/>
            <a:ext cx="10017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Plate format: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96 well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Quantification: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Luminescence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Envision 2105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a) 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CV: &lt; 20 %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b) Z’: &gt; 0.5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c) </a:t>
            </a:r>
            <a:r>
              <a:rPr lang="en-US" sz="2800" b="0" kern="1200" dirty="0">
                <a:solidFill>
                  <a:prstClr val="black"/>
                </a:solidFill>
                <a:latin typeface="Avenir Next" panose="020B0503020202020204"/>
                <a:ea typeface="+mn-ea"/>
                <a:cs typeface="Times New Roman" panose="02020603050405020304" pitchFamily="18" charset="0"/>
              </a:rPr>
              <a:t>Signal Window : 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440239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705" y="1864388"/>
            <a:ext cx="6947807" cy="492805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58CDBD2B-7302-49FF-A0C5-853A31BB0E11}"/>
              </a:ext>
            </a:extLst>
          </p:cNvPr>
          <p:cNvSpPr txBox="1">
            <a:spLocks/>
          </p:cNvSpPr>
          <p:nvPr/>
        </p:nvSpPr>
        <p:spPr>
          <a:xfrm>
            <a:off x="542194" y="209947"/>
            <a:ext cx="23841806" cy="1379726"/>
          </a:xfrm>
          <a:prstGeom prst="rect">
            <a:avLst/>
          </a:prstGeom>
          <a:ln w="12700">
            <a:miter lim="400000"/>
          </a:ln>
        </p:spPr>
        <p:txBody>
          <a:bodyPr vert="horz" wrap="square" lIns="50800" tIns="50800" rIns="50800" bIns="508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rgbClr val="1F3FB7"/>
                </a:solidFill>
                <a:latin typeface="Arial Black" panose="020B0604020202020204" pitchFamily="34" charset="0"/>
                <a:ea typeface="Raleway Black"/>
                <a:cs typeface="Arial Black" panose="020B0604020202020204" pitchFamily="34" charset="0"/>
              </a:defRPr>
            </a:lvl1pPr>
          </a:lstStyle>
          <a:p>
            <a:pPr marL="466726">
              <a:defRPr/>
            </a:pPr>
            <a:r>
              <a:rPr lang="en-US" sz="4800" dirty="0" err="1"/>
              <a:t>pERK</a:t>
            </a:r>
            <a:r>
              <a:rPr lang="en-US" sz="4800" dirty="0"/>
              <a:t> HTRF of Compound X in AGS &amp; AsPC1 cell line –3 HR treatment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8DCA5B-C169-4B33-9FFA-350C423ADB6A}"/>
              </a:ext>
            </a:extLst>
          </p:cNvPr>
          <p:cNvSpPr txBox="1"/>
          <p:nvPr/>
        </p:nvSpPr>
        <p:spPr>
          <a:xfrm>
            <a:off x="13194794" y="4522469"/>
            <a:ext cx="31197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IC50 – 16 </a:t>
            </a:r>
            <a:r>
              <a:rPr lang="en-US" dirty="0" err="1"/>
              <a:t>nM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8028C-0E48-40EB-8783-8AB12F85DA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17"/>
          <a:stretch/>
        </p:blipFill>
        <p:spPr>
          <a:xfrm>
            <a:off x="1143000" y="1901303"/>
            <a:ext cx="6634439" cy="26545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469EAF3-085A-47A0-8FA9-A436C19DC658}"/>
              </a:ext>
            </a:extLst>
          </p:cNvPr>
          <p:cNvSpPr txBox="1"/>
          <p:nvPr/>
        </p:nvSpPr>
        <p:spPr>
          <a:xfrm>
            <a:off x="1108104" y="1169191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6EC3BC-119F-43FC-8105-B8BA61DBE479}"/>
              </a:ext>
            </a:extLst>
          </p:cNvPr>
          <p:cNvSpPr txBox="1"/>
          <p:nvPr/>
        </p:nvSpPr>
        <p:spPr>
          <a:xfrm>
            <a:off x="1108103" y="4590479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Brief Protocol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</a:t>
            </a:r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EED8B866-99C0-4563-8253-73FEDE4EF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9655043"/>
              </p:ext>
            </p:extLst>
          </p:nvPr>
        </p:nvGraphicFramePr>
        <p:xfrm>
          <a:off x="1011406" y="5123037"/>
          <a:ext cx="7824361" cy="6984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3ED7EAE-6751-4522-B9D1-949FC1586AFC}"/>
              </a:ext>
            </a:extLst>
          </p:cNvPr>
          <p:cNvSpPr txBox="1"/>
          <p:nvPr/>
        </p:nvSpPr>
        <p:spPr>
          <a:xfrm>
            <a:off x="1867727" y="12409236"/>
            <a:ext cx="786998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8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 Used- new ERK Advanced kit - </a:t>
            </a:r>
            <a:r>
              <a:rPr lang="en-US" sz="1800" i="1" kern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Cisbio</a:t>
            </a:r>
            <a:r>
              <a:rPr lang="en-US" sz="1800" i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(64AERPEG)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46654-B3C6-4883-BFCD-A0B009559E1D}"/>
              </a:ext>
            </a:extLst>
          </p:cNvPr>
          <p:cNvSpPr txBox="1"/>
          <p:nvPr/>
        </p:nvSpPr>
        <p:spPr>
          <a:xfrm>
            <a:off x="9343664" y="6909431"/>
            <a:ext cx="10017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Plate format: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384 well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Quantification: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Luminescence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Envision 2105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a) 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CV: &lt; 20 %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b) Z’: &gt; 0.5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c) </a:t>
            </a:r>
            <a:r>
              <a:rPr lang="en-US" sz="2800" b="0" kern="1200" dirty="0">
                <a:solidFill>
                  <a:prstClr val="black"/>
                </a:solidFill>
                <a:latin typeface="Avenir Next" panose="020B0503020202020204"/>
                <a:ea typeface="+mn-ea"/>
                <a:cs typeface="Times New Roman" panose="02020603050405020304" pitchFamily="18" charset="0"/>
              </a:rPr>
              <a:t>Signal Window : 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C3B3D-D444-4381-B59F-ABA663B2F8BE}"/>
              </a:ext>
            </a:extLst>
          </p:cNvPr>
          <p:cNvSpPr txBox="1"/>
          <p:nvPr/>
        </p:nvSpPr>
        <p:spPr>
          <a:xfrm>
            <a:off x="4742211" y="6026845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Overnight, 37°C, 5 % CO</a:t>
            </a:r>
            <a:r>
              <a:rPr lang="en-US" sz="20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C1EFAB-9B09-425F-902D-D8DAC29BD8F7}"/>
              </a:ext>
            </a:extLst>
          </p:cNvPr>
          <p:cNvSpPr txBox="1"/>
          <p:nvPr/>
        </p:nvSpPr>
        <p:spPr>
          <a:xfrm>
            <a:off x="4656049" y="7637313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Incubate for 3 </a:t>
            </a:r>
            <a:r>
              <a:rPr lang="en-US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endParaRPr lang="en-US" sz="2000" b="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9E0597-0794-4766-B0A0-DB8FB07AD079}"/>
              </a:ext>
            </a:extLst>
          </p:cNvPr>
          <p:cNvSpPr txBox="1"/>
          <p:nvPr/>
        </p:nvSpPr>
        <p:spPr>
          <a:xfrm>
            <a:off x="4561511" y="9268779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Incubate for 45 mins</a:t>
            </a:r>
            <a:endParaRPr lang="en-US" sz="2000" b="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9C9FBC-C8B1-480E-A676-4A1A1DF01786}"/>
              </a:ext>
            </a:extLst>
          </p:cNvPr>
          <p:cNvSpPr txBox="1"/>
          <p:nvPr/>
        </p:nvSpPr>
        <p:spPr>
          <a:xfrm>
            <a:off x="4561511" y="10847618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>
              <a:defRPr/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Incubate for 24 </a:t>
            </a:r>
            <a:r>
              <a:rPr lang="en-US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at RT</a:t>
            </a:r>
            <a:endParaRPr lang="en-US" sz="2000" b="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38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57A32F59-4126-4B66-8D6B-E8CC8CC2B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677" y="1589673"/>
            <a:ext cx="6651481" cy="51278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58CDBD2B-7302-49FF-A0C5-853A31BB0E11}"/>
              </a:ext>
            </a:extLst>
          </p:cNvPr>
          <p:cNvSpPr txBox="1">
            <a:spLocks/>
          </p:cNvSpPr>
          <p:nvPr/>
        </p:nvSpPr>
        <p:spPr>
          <a:xfrm>
            <a:off x="542194" y="209947"/>
            <a:ext cx="23498176" cy="1379726"/>
          </a:xfrm>
          <a:prstGeom prst="rect">
            <a:avLst/>
          </a:prstGeom>
          <a:ln w="12700">
            <a:miter lim="400000"/>
          </a:ln>
        </p:spPr>
        <p:txBody>
          <a:bodyPr vert="horz" wrap="square" lIns="50800" tIns="50800" rIns="50800" bIns="508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rgbClr val="1F3FB7"/>
                </a:solidFill>
                <a:latin typeface="Arial Black" panose="020B0604020202020204" pitchFamily="34" charset="0"/>
                <a:ea typeface="Raleway Black"/>
                <a:cs typeface="Arial Black" panose="020B0604020202020204" pitchFamily="34" charset="0"/>
              </a:defRPr>
            </a:lvl1pPr>
          </a:lstStyle>
          <a:p>
            <a:pPr marL="233363" marR="0" lvl="0" indent="0" algn="l" defTabSz="4111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A04020102020204" pitchFamily="34" charset="0"/>
                <a:cs typeface="Arial" panose="020B0604020202020204" pitchFamily="34" charset="0"/>
                <a:sym typeface="Raleway Black"/>
              </a:rPr>
              <a:t>cAMP Hunter™ Liraglutide Bioassay -</a:t>
            </a:r>
            <a:r>
              <a:rPr kumimoji="0" lang="en-US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A04020102020204" pitchFamily="34" charset="0"/>
                <a:cs typeface="Arial Black" panose="020B0A04020102020204" pitchFamily="34" charset="0"/>
                <a:sym typeface="Raleway Black"/>
              </a:rPr>
              <a:t> Protocol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8DCA5B-C169-4B33-9FFA-350C423ADB6A}"/>
              </a:ext>
            </a:extLst>
          </p:cNvPr>
          <p:cNvSpPr txBox="1"/>
          <p:nvPr/>
        </p:nvSpPr>
        <p:spPr>
          <a:xfrm>
            <a:off x="13194794" y="4522469"/>
            <a:ext cx="31197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IC50 – 50 nM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69EAF3-085A-47A0-8FA9-A436C19DC658}"/>
              </a:ext>
            </a:extLst>
          </p:cNvPr>
          <p:cNvSpPr txBox="1"/>
          <p:nvPr/>
        </p:nvSpPr>
        <p:spPr>
          <a:xfrm>
            <a:off x="1108104" y="1169191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6EC3BC-119F-43FC-8105-B8BA61DBE479}"/>
              </a:ext>
            </a:extLst>
          </p:cNvPr>
          <p:cNvSpPr txBox="1"/>
          <p:nvPr/>
        </p:nvSpPr>
        <p:spPr>
          <a:xfrm>
            <a:off x="1108103" y="4590479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Brief Protocol:</a:t>
            </a:r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EED8B866-99C0-4563-8253-73FEDE4EF762}"/>
              </a:ext>
            </a:extLst>
          </p:cNvPr>
          <p:cNvGraphicFramePr/>
          <p:nvPr/>
        </p:nvGraphicFramePr>
        <p:xfrm>
          <a:off x="1011406" y="5123037"/>
          <a:ext cx="7824361" cy="6984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8AC46654-B3C6-4883-BFCD-A0B009559E1D}"/>
              </a:ext>
            </a:extLst>
          </p:cNvPr>
          <p:cNvSpPr txBox="1"/>
          <p:nvPr/>
        </p:nvSpPr>
        <p:spPr>
          <a:xfrm>
            <a:off x="9343664" y="6909431"/>
            <a:ext cx="10017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Plate format: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96 well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Quantification: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Luminescence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Envision 2105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a) %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CV: &lt; 20 %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b) Z’: &gt; 0.5 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c) Signal Window : 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C3B3D-D444-4381-B59F-ABA663B2F8BE}"/>
              </a:ext>
            </a:extLst>
          </p:cNvPr>
          <p:cNvSpPr txBox="1"/>
          <p:nvPr/>
        </p:nvSpPr>
        <p:spPr>
          <a:xfrm>
            <a:off x="4742211" y="6026845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Overnight, 37°C, 5 % CO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C1EFAB-9B09-425F-902D-D8DAC29BD8F7}"/>
              </a:ext>
            </a:extLst>
          </p:cNvPr>
          <p:cNvSpPr txBox="1"/>
          <p:nvPr/>
        </p:nvSpPr>
        <p:spPr>
          <a:xfrm>
            <a:off x="4656049" y="7637313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Incubate for 30 mins</a:t>
            </a:r>
            <a:endParaRPr kumimoji="0" lang="en-US" sz="20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9E0597-0794-4766-B0A0-DB8FB07AD079}"/>
              </a:ext>
            </a:extLst>
          </p:cNvPr>
          <p:cNvSpPr txBox="1"/>
          <p:nvPr/>
        </p:nvSpPr>
        <p:spPr>
          <a:xfrm>
            <a:off x="4561511" y="9268779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Incubate for 1hr at RT</a:t>
            </a:r>
            <a:endParaRPr kumimoji="0" lang="en-US" sz="20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9C9FBC-C8B1-480E-A676-4A1A1DF01786}"/>
              </a:ext>
            </a:extLst>
          </p:cNvPr>
          <p:cNvSpPr txBox="1"/>
          <p:nvPr/>
        </p:nvSpPr>
        <p:spPr>
          <a:xfrm>
            <a:off x="4561511" y="10847618"/>
            <a:ext cx="4093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Incubate for 3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hrs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at RT</a:t>
            </a:r>
            <a:endParaRPr kumimoji="0" lang="en-US" sz="20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9DE176-B4B3-4D59-8B1A-7B944FB94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498" y="1753966"/>
            <a:ext cx="7385361" cy="2876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664F65-15DC-4230-ABB9-4539E957B9E7}"/>
              </a:ext>
            </a:extLst>
          </p:cNvPr>
          <p:cNvSpPr txBox="1"/>
          <p:nvPr/>
        </p:nvSpPr>
        <p:spPr>
          <a:xfrm>
            <a:off x="1259685" y="12343381"/>
            <a:ext cx="87263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Kit Used-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LTStd"/>
                <a:sym typeface="Helvetica Neue"/>
              </a:rPr>
              <a:t>cAMP Hunter™ Liraglutide Bioassay Kit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-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DiscoverX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(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ade GothicLTStd"/>
                <a:sym typeface="Helvetica Neue"/>
              </a:rPr>
              <a:t>95-0062Y2-00099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193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58CDBD2B-7302-49FF-A0C5-853A31BB0E11}"/>
              </a:ext>
            </a:extLst>
          </p:cNvPr>
          <p:cNvSpPr txBox="1">
            <a:spLocks/>
          </p:cNvSpPr>
          <p:nvPr/>
        </p:nvSpPr>
        <p:spPr>
          <a:xfrm>
            <a:off x="542193" y="209945"/>
            <a:ext cx="23498175" cy="1379726"/>
          </a:xfrm>
          <a:prstGeom prst="rect">
            <a:avLst/>
          </a:prstGeom>
          <a:ln w="12700">
            <a:miter lim="400000"/>
          </a:ln>
        </p:spPr>
        <p:txBody>
          <a:bodyPr vert="horz" wrap="square" lIns="50800" tIns="50800" rIns="50800" bIns="508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rgbClr val="1F3FB7"/>
                </a:solidFill>
                <a:latin typeface="Arial Black" panose="020B0604020202020204" pitchFamily="34" charset="0"/>
                <a:ea typeface="Raleway Black"/>
                <a:cs typeface="Arial Black" panose="020B0604020202020204" pitchFamily="34" charset="0"/>
              </a:defRPr>
            </a:lvl1pPr>
          </a:lstStyle>
          <a:p>
            <a:pPr marL="466725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Cell Cycle </a:t>
            </a: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analysis</a:t>
            </a:r>
            <a:r>
              <a:rPr kumimoji="0" lang="en-US" sz="4800" b="0" i="0" u="none" strike="noStrike" kern="1200" cap="none" spc="0" normalizeH="0" noProof="0" dirty="0" smtClean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 in the presence of </a:t>
            </a: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compound</a:t>
            </a:r>
            <a:r>
              <a:rPr kumimoji="0" lang="en-US" sz="4800" b="0" i="0" u="none" strike="noStrike" kern="1200" cap="none" spc="0" normalizeH="0" noProof="0" dirty="0" smtClean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 X</a:t>
            </a: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in NCIH358 cell line – 24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srgbClr val="1F3FB7"/>
                </a:solidFill>
                <a:effectLst/>
                <a:uLnTx/>
                <a:uFillTx/>
                <a:latin typeface="Arial Black" panose="020B0604020202020204" pitchFamily="34" charset="0"/>
                <a:sym typeface="Helvetica Neue"/>
              </a:rPr>
              <a:t>hr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1F3FB7"/>
              </a:solidFill>
              <a:effectLst/>
              <a:uLnTx/>
              <a:uFillTx/>
              <a:latin typeface="Arial Black" panose="020B0604020202020204" pitchFamily="34" charset="0"/>
              <a:sym typeface="Helvetica Neue"/>
            </a:endParaRPr>
          </a:p>
        </p:txBody>
      </p:sp>
      <p:sp>
        <p:nvSpPr>
          <p:cNvPr id="15" name="Arrow: Right 4">
            <a:extLst>
              <a:ext uri="{FF2B5EF4-FFF2-40B4-BE49-F238E27FC236}">
                <a16:creationId xmlns:a16="http://schemas.microsoft.com/office/drawing/2014/main" id="{65B1C60D-3F4A-45BF-A8D9-0C736E756CF1}"/>
              </a:ext>
            </a:extLst>
          </p:cNvPr>
          <p:cNvSpPr txBox="1"/>
          <p:nvPr/>
        </p:nvSpPr>
        <p:spPr>
          <a:xfrm>
            <a:off x="21986218" y="10449190"/>
            <a:ext cx="590936" cy="574520"/>
          </a:xfrm>
          <a:prstGeom prst="rect">
            <a:avLst/>
          </a:prstGeom>
          <a:scene3d>
            <a:camera prst="orthographicFront"/>
            <a:lightRig rig="flat" dir="t"/>
          </a:scene3d>
          <a:sp3d z="-80000"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1911350" rtl="0" eaLnBrk="1" fontAlgn="auto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IN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+mn-cs"/>
              <a:sym typeface="Helvetica Neu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D0C7B5-33CD-43AE-8113-2F82207B335E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91461" y="1961363"/>
            <a:ext cx="3704823" cy="3374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FE39A4-7B94-4BF1-B894-FD52FE158D19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759905" y="1961363"/>
            <a:ext cx="3703320" cy="33741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AEFCC7-99E9-42DE-A871-326D9F10FC32}"/>
              </a:ext>
            </a:extLst>
          </p:cNvPr>
          <p:cNvSpPr txBox="1"/>
          <p:nvPr/>
        </p:nvSpPr>
        <p:spPr>
          <a:xfrm>
            <a:off x="10841716" y="1656214"/>
            <a:ext cx="234315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Unstained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265603-A47F-4DAE-9610-C7E4F026FD31}"/>
              </a:ext>
            </a:extLst>
          </p:cNvPr>
          <p:cNvSpPr txBox="1"/>
          <p:nvPr/>
        </p:nvSpPr>
        <p:spPr>
          <a:xfrm>
            <a:off x="14223783" y="1668969"/>
            <a:ext cx="2775563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DMSO Control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CE6687-576F-4934-8765-5C06F25BA815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7590467" y="1961363"/>
            <a:ext cx="3703320" cy="33741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B56390D-24DA-4C5D-9672-7A36B6AD2E6C}"/>
              </a:ext>
            </a:extLst>
          </p:cNvPr>
          <p:cNvSpPr txBox="1"/>
          <p:nvPr/>
        </p:nvSpPr>
        <p:spPr>
          <a:xfrm>
            <a:off x="17751094" y="1730530"/>
            <a:ext cx="342497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Colchicine_100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nM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FE4F6C6-D7BF-48F8-A632-2D1858F06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475386"/>
              </p:ext>
            </p:extLst>
          </p:nvPr>
        </p:nvGraphicFramePr>
        <p:xfrm>
          <a:off x="14452385" y="5538464"/>
          <a:ext cx="6841402" cy="1453023"/>
        </p:xfrm>
        <a:graphic>
          <a:graphicData uri="http://schemas.openxmlformats.org/drawingml/2006/table">
            <a:tbl>
              <a:tblPr/>
              <a:tblGrid>
                <a:gridCol w="3327770">
                  <a:extLst>
                    <a:ext uri="{9D8B030D-6E8A-4147-A177-3AD203B41FA5}">
                      <a16:colId xmlns:a16="http://schemas.microsoft.com/office/drawing/2014/main" val="1740348602"/>
                    </a:ext>
                  </a:extLst>
                </a:gridCol>
                <a:gridCol w="1345270">
                  <a:extLst>
                    <a:ext uri="{9D8B030D-6E8A-4147-A177-3AD203B41FA5}">
                      <a16:colId xmlns:a16="http://schemas.microsoft.com/office/drawing/2014/main" val="295834718"/>
                    </a:ext>
                  </a:extLst>
                </a:gridCol>
                <a:gridCol w="1026654">
                  <a:extLst>
                    <a:ext uri="{9D8B030D-6E8A-4147-A177-3AD203B41FA5}">
                      <a16:colId xmlns:a16="http://schemas.microsoft.com/office/drawing/2014/main" val="1178775433"/>
                    </a:ext>
                  </a:extLst>
                </a:gridCol>
                <a:gridCol w="1141708">
                  <a:extLst>
                    <a:ext uri="{9D8B030D-6E8A-4147-A177-3AD203B41FA5}">
                      <a16:colId xmlns:a16="http://schemas.microsoft.com/office/drawing/2014/main" val="545281866"/>
                    </a:ext>
                  </a:extLst>
                </a:gridCol>
              </a:tblGrid>
              <a:tr h="376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NCIH358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G0-G1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G2-M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048056"/>
                  </a:ext>
                </a:extLst>
              </a:tr>
              <a:tr h="3587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Unstained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904287"/>
                  </a:ext>
                </a:extLst>
              </a:tr>
              <a:tr h="3587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DMSO Control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798575"/>
                  </a:ext>
                </a:extLst>
              </a:tr>
              <a:tr h="3587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Colchicine_100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311564"/>
                  </a:ext>
                </a:extLst>
              </a:tr>
            </a:tbl>
          </a:graphicData>
        </a:graphic>
      </p:graphicFrame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B88C4345-14FC-45EE-B5AD-16AA832A23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479568"/>
              </p:ext>
            </p:extLst>
          </p:nvPr>
        </p:nvGraphicFramePr>
        <p:xfrm>
          <a:off x="542193" y="5666285"/>
          <a:ext cx="7824361" cy="6984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1CE56EC5-1F90-4B6A-AE8A-2F921923E043}"/>
              </a:ext>
            </a:extLst>
          </p:cNvPr>
          <p:cNvSpPr txBox="1"/>
          <p:nvPr/>
        </p:nvSpPr>
        <p:spPr>
          <a:xfrm>
            <a:off x="4531148" y="6402712"/>
            <a:ext cx="3001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Overnight incubation</a:t>
            </a:r>
          </a:p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37C, 5 % CO2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4651BD-138C-4408-BE9C-8FBD82220077}"/>
              </a:ext>
            </a:extLst>
          </p:cNvPr>
          <p:cNvSpPr txBox="1"/>
          <p:nvPr/>
        </p:nvSpPr>
        <p:spPr>
          <a:xfrm>
            <a:off x="1975304" y="12650875"/>
            <a:ext cx="46675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8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 Used- Cell Cycle – </a:t>
            </a:r>
            <a:r>
              <a:rPr lang="en-US" sz="1800" i="1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Sigma (MAK344)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0C9FCE-E49F-408C-8988-D318E56FA7CE}"/>
              </a:ext>
            </a:extLst>
          </p:cNvPr>
          <p:cNvSpPr txBox="1"/>
          <p:nvPr/>
        </p:nvSpPr>
        <p:spPr>
          <a:xfrm>
            <a:off x="4521151" y="8096751"/>
            <a:ext cx="3001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Overnight incubation</a:t>
            </a:r>
          </a:p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37C, 5 % CO2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D9F29-3F8B-4FEE-9218-D5CA07B0F98E}"/>
              </a:ext>
            </a:extLst>
          </p:cNvPr>
          <p:cNvSpPr/>
          <p:nvPr/>
        </p:nvSpPr>
        <p:spPr>
          <a:xfrm>
            <a:off x="724637" y="2135183"/>
            <a:ext cx="52095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0" dirty="0">
                <a:solidFill>
                  <a:srgbClr val="4D51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cell cycle profile of a sample can be determined by </a:t>
            </a:r>
            <a:r>
              <a:rPr lang="en-US" sz="2400" b="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staining the DNA with a fluorescent dye and measuring its intensity</a:t>
            </a:r>
            <a:r>
              <a:rPr lang="en-US" sz="2400" b="0" dirty="0">
                <a:solidFill>
                  <a:srgbClr val="4D51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dye stains DNA stoichiometrically, allowing differentiation of cells in G0/G1, S phase, and G2/M.</a:t>
            </a:r>
            <a:endParaRPr lang="en-US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A73949-F79F-45B6-B6DB-12F3A3183360}"/>
              </a:ext>
            </a:extLst>
          </p:cNvPr>
          <p:cNvSpPr txBox="1"/>
          <p:nvPr/>
        </p:nvSpPr>
        <p:spPr>
          <a:xfrm>
            <a:off x="693394" y="5211203"/>
            <a:ext cx="4514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Brief Protocol: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0705F0-2E8B-40AF-BEE4-D531B4C8DAA3}"/>
              </a:ext>
            </a:extLst>
          </p:cNvPr>
          <p:cNvSpPr txBox="1"/>
          <p:nvPr/>
        </p:nvSpPr>
        <p:spPr>
          <a:xfrm>
            <a:off x="693394" y="1404060"/>
            <a:ext cx="4514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Assay principle: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582CB-D3E4-4DD4-B6C6-D5EC9CCE61A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7878"/>
          <a:stretch/>
        </p:blipFill>
        <p:spPr>
          <a:xfrm>
            <a:off x="6197920" y="1533839"/>
            <a:ext cx="3529791" cy="41516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DC8808-CA84-458B-9101-5FFD0783D646}"/>
              </a:ext>
            </a:extLst>
          </p:cNvPr>
          <p:cNvSpPr txBox="1"/>
          <p:nvPr/>
        </p:nvSpPr>
        <p:spPr>
          <a:xfrm>
            <a:off x="9601439" y="7714614"/>
            <a:ext cx="100175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Plate format: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2800" b="0" kern="1200" dirty="0">
                <a:solidFill>
                  <a:prstClr val="black"/>
                </a:solidFill>
                <a:latin typeface="Avenir Next" panose="020B0503020202020204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 well plate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Quantification: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Instrument used: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Cytoflex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venir Next" panose="020B0503020202020204"/>
                <a:ea typeface="+mn-ea"/>
                <a:cs typeface="Times New Roman" panose="02020603050405020304" pitchFamily="18" charset="0"/>
                <a:sym typeface="Helvetica Neue"/>
              </a:rPr>
              <a:t>QC parameters used for assay: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4373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39403" y="2228348"/>
            <a:ext cx="6160838" cy="10180651"/>
            <a:chOff x="3972769" y="2546014"/>
            <a:chExt cx="6160838" cy="10180651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" name="Freeform 2"/>
            <p:cNvSpPr/>
            <p:nvPr/>
          </p:nvSpPr>
          <p:spPr>
            <a:xfrm>
              <a:off x="3979796" y="2546014"/>
              <a:ext cx="6136091" cy="1167926"/>
            </a:xfrm>
            <a:custGeom>
              <a:avLst/>
              <a:gdLst>
                <a:gd name="connsiteX0" fmla="*/ 0 w 6136091"/>
                <a:gd name="connsiteY0" fmla="*/ 116793 h 1167926"/>
                <a:gd name="connsiteX1" fmla="*/ 116793 w 6136091"/>
                <a:gd name="connsiteY1" fmla="*/ 0 h 1167926"/>
                <a:gd name="connsiteX2" fmla="*/ 6019298 w 6136091"/>
                <a:gd name="connsiteY2" fmla="*/ 0 h 1167926"/>
                <a:gd name="connsiteX3" fmla="*/ 6136091 w 6136091"/>
                <a:gd name="connsiteY3" fmla="*/ 116793 h 1167926"/>
                <a:gd name="connsiteX4" fmla="*/ 6136091 w 6136091"/>
                <a:gd name="connsiteY4" fmla="*/ 1051133 h 1167926"/>
                <a:gd name="connsiteX5" fmla="*/ 6019298 w 6136091"/>
                <a:gd name="connsiteY5" fmla="*/ 1167926 h 1167926"/>
                <a:gd name="connsiteX6" fmla="*/ 116793 w 6136091"/>
                <a:gd name="connsiteY6" fmla="*/ 1167926 h 1167926"/>
                <a:gd name="connsiteX7" fmla="*/ 0 w 6136091"/>
                <a:gd name="connsiteY7" fmla="*/ 1051133 h 1167926"/>
                <a:gd name="connsiteX8" fmla="*/ 0 w 6136091"/>
                <a:gd name="connsiteY8" fmla="*/ 116793 h 116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36091" h="1167926">
                  <a:moveTo>
                    <a:pt x="0" y="116793"/>
                  </a:moveTo>
                  <a:cubicBezTo>
                    <a:pt x="0" y="52290"/>
                    <a:pt x="52290" y="0"/>
                    <a:pt x="116793" y="0"/>
                  </a:cubicBezTo>
                  <a:lnTo>
                    <a:pt x="6019298" y="0"/>
                  </a:lnTo>
                  <a:cubicBezTo>
                    <a:pt x="6083801" y="0"/>
                    <a:pt x="6136091" y="52290"/>
                    <a:pt x="6136091" y="116793"/>
                  </a:cubicBezTo>
                  <a:lnTo>
                    <a:pt x="6136091" y="1051133"/>
                  </a:lnTo>
                  <a:cubicBezTo>
                    <a:pt x="6136091" y="1115636"/>
                    <a:pt x="6083801" y="1167926"/>
                    <a:pt x="6019298" y="1167926"/>
                  </a:cubicBezTo>
                  <a:lnTo>
                    <a:pt x="116793" y="1167926"/>
                  </a:lnTo>
                  <a:cubicBezTo>
                    <a:pt x="52290" y="1167926"/>
                    <a:pt x="0" y="1115636"/>
                    <a:pt x="0" y="1051133"/>
                  </a:cubicBezTo>
                  <a:lnTo>
                    <a:pt x="0" y="116793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647" tIns="125647" rIns="125647" bIns="125647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400" b="1" kern="1200" dirty="0">
                  <a:solidFill>
                    <a:schemeClr val="tx1"/>
                  </a:solidFill>
                  <a:latin typeface="Helvetica Neue"/>
                </a:rPr>
                <a:t>Seed 4</a:t>
              </a:r>
              <a:r>
                <a:rPr lang="en-US" sz="2400" u="none" strike="noStrike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X 10</a:t>
              </a:r>
              <a:r>
                <a:rPr lang="en-US" sz="2400" u="none" strike="noStrike" kern="1200" baseline="300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2400" u="none" strike="noStrike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2400" kern="1200" dirty="0">
                  <a:solidFill>
                    <a:schemeClr val="tx1"/>
                  </a:solidFill>
                  <a:latin typeface="Helvetica Neue"/>
                  <a:cs typeface="Arial" panose="020B0604020202020204" pitchFamily="34" charset="0"/>
                </a:rPr>
                <a:t>wild type and knockout cells </a:t>
              </a:r>
              <a:r>
                <a:rPr lang="en-IN" sz="2400" b="1" kern="1200" dirty="0">
                  <a:solidFill>
                    <a:schemeClr val="tx1"/>
                  </a:solidFill>
                  <a:latin typeface="Helvetica Neue"/>
                </a:rPr>
                <a:t>in 96 well plate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3979796" y="4306701"/>
              <a:ext cx="6136091" cy="1167926"/>
            </a:xfrm>
            <a:custGeom>
              <a:avLst/>
              <a:gdLst>
                <a:gd name="connsiteX0" fmla="*/ 0 w 6136091"/>
                <a:gd name="connsiteY0" fmla="*/ 116793 h 1167926"/>
                <a:gd name="connsiteX1" fmla="*/ 116793 w 6136091"/>
                <a:gd name="connsiteY1" fmla="*/ 0 h 1167926"/>
                <a:gd name="connsiteX2" fmla="*/ 6019298 w 6136091"/>
                <a:gd name="connsiteY2" fmla="*/ 0 h 1167926"/>
                <a:gd name="connsiteX3" fmla="*/ 6136091 w 6136091"/>
                <a:gd name="connsiteY3" fmla="*/ 116793 h 1167926"/>
                <a:gd name="connsiteX4" fmla="*/ 6136091 w 6136091"/>
                <a:gd name="connsiteY4" fmla="*/ 1051133 h 1167926"/>
                <a:gd name="connsiteX5" fmla="*/ 6019298 w 6136091"/>
                <a:gd name="connsiteY5" fmla="*/ 1167926 h 1167926"/>
                <a:gd name="connsiteX6" fmla="*/ 116793 w 6136091"/>
                <a:gd name="connsiteY6" fmla="*/ 1167926 h 1167926"/>
                <a:gd name="connsiteX7" fmla="*/ 0 w 6136091"/>
                <a:gd name="connsiteY7" fmla="*/ 1051133 h 1167926"/>
                <a:gd name="connsiteX8" fmla="*/ 0 w 6136091"/>
                <a:gd name="connsiteY8" fmla="*/ 116793 h 116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36091" h="1167926">
                  <a:moveTo>
                    <a:pt x="0" y="116793"/>
                  </a:moveTo>
                  <a:cubicBezTo>
                    <a:pt x="0" y="52290"/>
                    <a:pt x="52290" y="0"/>
                    <a:pt x="116793" y="0"/>
                  </a:cubicBezTo>
                  <a:lnTo>
                    <a:pt x="6019298" y="0"/>
                  </a:lnTo>
                  <a:cubicBezTo>
                    <a:pt x="6083801" y="0"/>
                    <a:pt x="6136091" y="52290"/>
                    <a:pt x="6136091" y="116793"/>
                  </a:cubicBezTo>
                  <a:lnTo>
                    <a:pt x="6136091" y="1051133"/>
                  </a:lnTo>
                  <a:cubicBezTo>
                    <a:pt x="6136091" y="1115636"/>
                    <a:pt x="6083801" y="1167926"/>
                    <a:pt x="6019298" y="1167926"/>
                  </a:cubicBezTo>
                  <a:lnTo>
                    <a:pt x="116793" y="1167926"/>
                  </a:lnTo>
                  <a:cubicBezTo>
                    <a:pt x="52290" y="1167926"/>
                    <a:pt x="0" y="1115636"/>
                    <a:pt x="0" y="1051133"/>
                  </a:cubicBezTo>
                  <a:lnTo>
                    <a:pt x="0" y="116793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647" tIns="125647" rIns="125647" bIns="125647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>
                  <a:solidFill>
                    <a:schemeClr val="tx1"/>
                  </a:solidFill>
                  <a:latin typeface="Helvetica Neue"/>
                </a:rPr>
                <a:t>Add test compound – 1uM, 5 point DRC with 3-fold dilution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3979796" y="6058592"/>
              <a:ext cx="6136091" cy="1167926"/>
            </a:xfrm>
            <a:custGeom>
              <a:avLst/>
              <a:gdLst>
                <a:gd name="connsiteX0" fmla="*/ 0 w 6136091"/>
                <a:gd name="connsiteY0" fmla="*/ 116793 h 1167926"/>
                <a:gd name="connsiteX1" fmla="*/ 116793 w 6136091"/>
                <a:gd name="connsiteY1" fmla="*/ 0 h 1167926"/>
                <a:gd name="connsiteX2" fmla="*/ 6019298 w 6136091"/>
                <a:gd name="connsiteY2" fmla="*/ 0 h 1167926"/>
                <a:gd name="connsiteX3" fmla="*/ 6136091 w 6136091"/>
                <a:gd name="connsiteY3" fmla="*/ 116793 h 1167926"/>
                <a:gd name="connsiteX4" fmla="*/ 6136091 w 6136091"/>
                <a:gd name="connsiteY4" fmla="*/ 1051133 h 1167926"/>
                <a:gd name="connsiteX5" fmla="*/ 6019298 w 6136091"/>
                <a:gd name="connsiteY5" fmla="*/ 1167926 h 1167926"/>
                <a:gd name="connsiteX6" fmla="*/ 116793 w 6136091"/>
                <a:gd name="connsiteY6" fmla="*/ 1167926 h 1167926"/>
                <a:gd name="connsiteX7" fmla="*/ 0 w 6136091"/>
                <a:gd name="connsiteY7" fmla="*/ 1051133 h 1167926"/>
                <a:gd name="connsiteX8" fmla="*/ 0 w 6136091"/>
                <a:gd name="connsiteY8" fmla="*/ 116793 h 116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36091" h="1167926">
                  <a:moveTo>
                    <a:pt x="0" y="116793"/>
                  </a:moveTo>
                  <a:cubicBezTo>
                    <a:pt x="0" y="52290"/>
                    <a:pt x="52290" y="0"/>
                    <a:pt x="116793" y="0"/>
                  </a:cubicBezTo>
                  <a:lnTo>
                    <a:pt x="6019298" y="0"/>
                  </a:lnTo>
                  <a:cubicBezTo>
                    <a:pt x="6083801" y="0"/>
                    <a:pt x="6136091" y="52290"/>
                    <a:pt x="6136091" y="116793"/>
                  </a:cubicBezTo>
                  <a:lnTo>
                    <a:pt x="6136091" y="1051133"/>
                  </a:lnTo>
                  <a:cubicBezTo>
                    <a:pt x="6136091" y="1115636"/>
                    <a:pt x="6083801" y="1167926"/>
                    <a:pt x="6019298" y="1167926"/>
                  </a:cubicBezTo>
                  <a:lnTo>
                    <a:pt x="116793" y="1167926"/>
                  </a:lnTo>
                  <a:cubicBezTo>
                    <a:pt x="52290" y="1167926"/>
                    <a:pt x="0" y="1115636"/>
                    <a:pt x="0" y="1051133"/>
                  </a:cubicBezTo>
                  <a:lnTo>
                    <a:pt x="0" y="116793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647" tIns="125647" rIns="125647" bIns="125647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>
                  <a:solidFill>
                    <a:schemeClr val="tx1"/>
                  </a:solidFill>
                  <a:latin typeface="Helvetica Neue"/>
                </a:rPr>
                <a:t>Incubate assay plate for 0, 0.5, 1, 3, 24 &amp; 48h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3997516" y="7919214"/>
              <a:ext cx="6136091" cy="1167926"/>
            </a:xfrm>
            <a:custGeom>
              <a:avLst/>
              <a:gdLst>
                <a:gd name="connsiteX0" fmla="*/ 0 w 6136091"/>
                <a:gd name="connsiteY0" fmla="*/ 116793 h 1167926"/>
                <a:gd name="connsiteX1" fmla="*/ 116793 w 6136091"/>
                <a:gd name="connsiteY1" fmla="*/ 0 h 1167926"/>
                <a:gd name="connsiteX2" fmla="*/ 6019298 w 6136091"/>
                <a:gd name="connsiteY2" fmla="*/ 0 h 1167926"/>
                <a:gd name="connsiteX3" fmla="*/ 6136091 w 6136091"/>
                <a:gd name="connsiteY3" fmla="*/ 116793 h 1167926"/>
                <a:gd name="connsiteX4" fmla="*/ 6136091 w 6136091"/>
                <a:gd name="connsiteY4" fmla="*/ 1051133 h 1167926"/>
                <a:gd name="connsiteX5" fmla="*/ 6019298 w 6136091"/>
                <a:gd name="connsiteY5" fmla="*/ 1167926 h 1167926"/>
                <a:gd name="connsiteX6" fmla="*/ 116793 w 6136091"/>
                <a:gd name="connsiteY6" fmla="*/ 1167926 h 1167926"/>
                <a:gd name="connsiteX7" fmla="*/ 0 w 6136091"/>
                <a:gd name="connsiteY7" fmla="*/ 1051133 h 1167926"/>
                <a:gd name="connsiteX8" fmla="*/ 0 w 6136091"/>
                <a:gd name="connsiteY8" fmla="*/ 116793 h 116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36091" h="1167926">
                  <a:moveTo>
                    <a:pt x="0" y="116793"/>
                  </a:moveTo>
                  <a:cubicBezTo>
                    <a:pt x="0" y="52290"/>
                    <a:pt x="52290" y="0"/>
                    <a:pt x="116793" y="0"/>
                  </a:cubicBezTo>
                  <a:lnTo>
                    <a:pt x="6019298" y="0"/>
                  </a:lnTo>
                  <a:cubicBezTo>
                    <a:pt x="6083801" y="0"/>
                    <a:pt x="6136091" y="52290"/>
                    <a:pt x="6136091" y="116793"/>
                  </a:cubicBezTo>
                  <a:lnTo>
                    <a:pt x="6136091" y="1051133"/>
                  </a:lnTo>
                  <a:cubicBezTo>
                    <a:pt x="6136091" y="1115636"/>
                    <a:pt x="6083801" y="1167926"/>
                    <a:pt x="6019298" y="1167926"/>
                  </a:cubicBezTo>
                  <a:lnTo>
                    <a:pt x="116793" y="1167926"/>
                  </a:lnTo>
                  <a:cubicBezTo>
                    <a:pt x="52290" y="1167926"/>
                    <a:pt x="0" y="1115636"/>
                    <a:pt x="0" y="1051133"/>
                  </a:cubicBezTo>
                  <a:lnTo>
                    <a:pt x="0" y="116793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647" tIns="125647" rIns="125647" bIns="125647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>
                  <a:solidFill>
                    <a:schemeClr val="tx1"/>
                  </a:solidFill>
                  <a:latin typeface="Helvetica Neue"/>
                </a:rPr>
                <a:t>Lyse cells and collect supernatant</a:t>
              </a:r>
              <a:endParaRPr lang="en-US" sz="2400" b="1" kern="1200" dirty="0">
                <a:solidFill>
                  <a:schemeClr val="tx1"/>
                </a:solidFill>
                <a:latin typeface="Helvetica Neue"/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997516" y="9760433"/>
              <a:ext cx="6136091" cy="1167926"/>
            </a:xfrm>
            <a:custGeom>
              <a:avLst/>
              <a:gdLst>
                <a:gd name="connsiteX0" fmla="*/ 0 w 6136091"/>
                <a:gd name="connsiteY0" fmla="*/ 116793 h 1167926"/>
                <a:gd name="connsiteX1" fmla="*/ 116793 w 6136091"/>
                <a:gd name="connsiteY1" fmla="*/ 0 h 1167926"/>
                <a:gd name="connsiteX2" fmla="*/ 6019298 w 6136091"/>
                <a:gd name="connsiteY2" fmla="*/ 0 h 1167926"/>
                <a:gd name="connsiteX3" fmla="*/ 6136091 w 6136091"/>
                <a:gd name="connsiteY3" fmla="*/ 116793 h 1167926"/>
                <a:gd name="connsiteX4" fmla="*/ 6136091 w 6136091"/>
                <a:gd name="connsiteY4" fmla="*/ 1051133 h 1167926"/>
                <a:gd name="connsiteX5" fmla="*/ 6019298 w 6136091"/>
                <a:gd name="connsiteY5" fmla="*/ 1167926 h 1167926"/>
                <a:gd name="connsiteX6" fmla="*/ 116793 w 6136091"/>
                <a:gd name="connsiteY6" fmla="*/ 1167926 h 1167926"/>
                <a:gd name="connsiteX7" fmla="*/ 0 w 6136091"/>
                <a:gd name="connsiteY7" fmla="*/ 1051133 h 1167926"/>
                <a:gd name="connsiteX8" fmla="*/ 0 w 6136091"/>
                <a:gd name="connsiteY8" fmla="*/ 116793 h 116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36091" h="1167926">
                  <a:moveTo>
                    <a:pt x="0" y="116793"/>
                  </a:moveTo>
                  <a:cubicBezTo>
                    <a:pt x="0" y="52290"/>
                    <a:pt x="52290" y="0"/>
                    <a:pt x="116793" y="0"/>
                  </a:cubicBezTo>
                  <a:lnTo>
                    <a:pt x="6019298" y="0"/>
                  </a:lnTo>
                  <a:cubicBezTo>
                    <a:pt x="6083801" y="0"/>
                    <a:pt x="6136091" y="52290"/>
                    <a:pt x="6136091" y="116793"/>
                  </a:cubicBezTo>
                  <a:lnTo>
                    <a:pt x="6136091" y="1051133"/>
                  </a:lnTo>
                  <a:cubicBezTo>
                    <a:pt x="6136091" y="1115636"/>
                    <a:pt x="6083801" y="1167926"/>
                    <a:pt x="6019298" y="1167926"/>
                  </a:cubicBezTo>
                  <a:lnTo>
                    <a:pt x="116793" y="1167926"/>
                  </a:lnTo>
                  <a:cubicBezTo>
                    <a:pt x="52290" y="1167926"/>
                    <a:pt x="0" y="1115636"/>
                    <a:pt x="0" y="1051133"/>
                  </a:cubicBezTo>
                  <a:lnTo>
                    <a:pt x="0" y="116793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647" tIns="125647" rIns="125647" bIns="125647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kern="1200" dirty="0">
                  <a:solidFill>
                    <a:schemeClr val="tx1"/>
                  </a:solidFill>
                  <a:latin typeface="Helvetica Neue"/>
                </a:rPr>
                <a:t>Send samples for LCMS analysis</a:t>
              </a:r>
              <a:endParaRPr lang="en-IN" sz="2400" b="1" kern="1200" dirty="0">
                <a:solidFill>
                  <a:schemeClr val="tx1"/>
                </a:solidFill>
                <a:latin typeface="Helvetica Neue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972769" y="11558739"/>
              <a:ext cx="6136091" cy="1167926"/>
            </a:xfrm>
            <a:custGeom>
              <a:avLst/>
              <a:gdLst>
                <a:gd name="connsiteX0" fmla="*/ 0 w 6136091"/>
                <a:gd name="connsiteY0" fmla="*/ 116793 h 1167926"/>
                <a:gd name="connsiteX1" fmla="*/ 116793 w 6136091"/>
                <a:gd name="connsiteY1" fmla="*/ 0 h 1167926"/>
                <a:gd name="connsiteX2" fmla="*/ 6019298 w 6136091"/>
                <a:gd name="connsiteY2" fmla="*/ 0 h 1167926"/>
                <a:gd name="connsiteX3" fmla="*/ 6136091 w 6136091"/>
                <a:gd name="connsiteY3" fmla="*/ 116793 h 1167926"/>
                <a:gd name="connsiteX4" fmla="*/ 6136091 w 6136091"/>
                <a:gd name="connsiteY4" fmla="*/ 1051133 h 1167926"/>
                <a:gd name="connsiteX5" fmla="*/ 6019298 w 6136091"/>
                <a:gd name="connsiteY5" fmla="*/ 1167926 h 1167926"/>
                <a:gd name="connsiteX6" fmla="*/ 116793 w 6136091"/>
                <a:gd name="connsiteY6" fmla="*/ 1167926 h 1167926"/>
                <a:gd name="connsiteX7" fmla="*/ 0 w 6136091"/>
                <a:gd name="connsiteY7" fmla="*/ 1051133 h 1167926"/>
                <a:gd name="connsiteX8" fmla="*/ 0 w 6136091"/>
                <a:gd name="connsiteY8" fmla="*/ 116793 h 116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36091" h="1167926">
                  <a:moveTo>
                    <a:pt x="0" y="116793"/>
                  </a:moveTo>
                  <a:cubicBezTo>
                    <a:pt x="0" y="52290"/>
                    <a:pt x="52290" y="0"/>
                    <a:pt x="116793" y="0"/>
                  </a:cubicBezTo>
                  <a:lnTo>
                    <a:pt x="6019298" y="0"/>
                  </a:lnTo>
                  <a:cubicBezTo>
                    <a:pt x="6083801" y="0"/>
                    <a:pt x="6136091" y="52290"/>
                    <a:pt x="6136091" y="116793"/>
                  </a:cubicBezTo>
                  <a:lnTo>
                    <a:pt x="6136091" y="1051133"/>
                  </a:lnTo>
                  <a:cubicBezTo>
                    <a:pt x="6136091" y="1115636"/>
                    <a:pt x="6083801" y="1167926"/>
                    <a:pt x="6019298" y="1167926"/>
                  </a:cubicBezTo>
                  <a:lnTo>
                    <a:pt x="116793" y="1167926"/>
                  </a:lnTo>
                  <a:cubicBezTo>
                    <a:pt x="52290" y="1167926"/>
                    <a:pt x="0" y="1115636"/>
                    <a:pt x="0" y="1051133"/>
                  </a:cubicBezTo>
                  <a:lnTo>
                    <a:pt x="0" y="116793"/>
                  </a:lnTo>
                  <a:close/>
                </a:path>
              </a:pathLst>
            </a:custGeom>
            <a:grpFill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647" tIns="125647" rIns="125647" bIns="125647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kern="1200" dirty="0">
                  <a:solidFill>
                    <a:schemeClr val="tx1"/>
                  </a:solidFill>
                  <a:latin typeface="Helvetica Neue"/>
                </a:rPr>
                <a:t>Estimate the acid content compared to ester in the supernatant</a:t>
              </a:r>
              <a:endParaRPr lang="en-IN" sz="2400" b="1" kern="1200" dirty="0">
                <a:solidFill>
                  <a:schemeClr val="tx1"/>
                </a:solidFill>
                <a:latin typeface="Helvetica Neue"/>
              </a:endParaRPr>
            </a:p>
          </p:txBody>
        </p:sp>
      </p:grpSp>
      <p:sp>
        <p:nvSpPr>
          <p:cNvPr id="9" name="Down Arrow 8"/>
          <p:cNvSpPr/>
          <p:nvPr/>
        </p:nvSpPr>
        <p:spPr>
          <a:xfrm>
            <a:off x="3983083" y="3443806"/>
            <a:ext cx="262784" cy="59276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3983031" y="5256896"/>
            <a:ext cx="262784" cy="59276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3983031" y="6975333"/>
            <a:ext cx="262784" cy="59276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4004091" y="8656609"/>
            <a:ext cx="262784" cy="59276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3976057" y="10610693"/>
            <a:ext cx="262784" cy="59276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7896E7-504A-4EE5-A050-4BD9D8574327}"/>
              </a:ext>
            </a:extLst>
          </p:cNvPr>
          <p:cNvSpPr/>
          <p:nvPr/>
        </p:nvSpPr>
        <p:spPr>
          <a:xfrm>
            <a:off x="-1" y="605007"/>
            <a:ext cx="24384001" cy="1228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800" dirty="0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Acid accumulation assay</a:t>
            </a:r>
          </a:p>
          <a:p>
            <a:pPr algn="l"/>
            <a:endParaRPr lang="en-IN" sz="4800" dirty="0">
              <a:solidFill>
                <a:srgbClr val="1C3CB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0000000-0008-0000-0C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5390310"/>
              </p:ext>
            </p:extLst>
          </p:nvPr>
        </p:nvGraphicFramePr>
        <p:xfrm>
          <a:off x="8683998" y="2095406"/>
          <a:ext cx="13638120" cy="7153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260547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1402F7-ACE5-49D0-97FB-933DC406993F}"/>
              </a:ext>
            </a:extLst>
          </p:cNvPr>
          <p:cNvSpPr txBox="1">
            <a:spLocks/>
          </p:cNvSpPr>
          <p:nvPr/>
        </p:nvSpPr>
        <p:spPr>
          <a:xfrm>
            <a:off x="0" y="531045"/>
            <a:ext cx="23330263" cy="610284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noAutofit/>
          </a:bodyPr>
          <a:lstStyle>
            <a:lvl1pPr marL="0" marR="0" indent="0" algn="l" defTabSz="412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99" b="1" i="0" u="none" strike="noStrike" kern="1200" cap="none" spc="0" normalizeH="0" baseline="0" dirty="0">
                <a:ln>
                  <a:noFill/>
                </a:ln>
                <a:solidFill>
                  <a:srgbClr val="1F3FB7"/>
                </a:solidFill>
                <a:effectLst/>
                <a:uFillTx/>
                <a:latin typeface="Arial Black" panose="020B0604020202020204" pitchFamily="34" charset="0"/>
                <a:ea typeface="+mj-ea"/>
                <a:cs typeface="+mj-cs"/>
                <a:sym typeface="Raleway Black"/>
              </a:defRPr>
            </a:lvl1pPr>
          </a:lstStyle>
          <a:p>
            <a:pPr marL="233363"/>
            <a:r>
              <a:rPr lang="en-US" sz="4800" dirty="0">
                <a:latin typeface="Arial Black" panose="020B0A04020102020204" pitchFamily="34" charset="0"/>
                <a:ea typeface="Raleway Black"/>
                <a:cs typeface="Arial Black" panose="020B0604020202020204" pitchFamily="34" charset="0"/>
              </a:rPr>
              <a:t>Effect of IFX conjugates on TNF</a:t>
            </a:r>
            <a:r>
              <a:rPr lang="el-GR" sz="4800" dirty="0">
                <a:latin typeface="Arial Black" panose="020B0A04020102020204" pitchFamily="34" charset="0"/>
                <a:cs typeface="Arial" panose="020B0604020202020204" pitchFamily="34" charset="0"/>
              </a:rPr>
              <a:t>α</a:t>
            </a:r>
            <a:r>
              <a:rPr lang="en-US" sz="4800" dirty="0">
                <a:latin typeface="Arial Black" panose="020B0A04020102020204" pitchFamily="34" charset="0"/>
                <a:ea typeface="Raleway Black"/>
                <a:cs typeface="Arial Black" panose="020B0604020202020204" pitchFamily="34" charset="0"/>
              </a:rPr>
              <a:t> induced Cytotoxicity in L929 cells </a:t>
            </a:r>
            <a:endParaRPr lang="en-IN" sz="4800" dirty="0">
              <a:latin typeface="Arial Black" panose="020B0A04020102020204" pitchFamily="34" charset="0"/>
              <a:ea typeface="Raleway Black"/>
              <a:cs typeface="Arial Black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5E083D-922C-41E6-9BEE-A088A286B79A}"/>
              </a:ext>
            </a:extLst>
          </p:cNvPr>
          <p:cNvGrpSpPr/>
          <p:nvPr/>
        </p:nvGrpSpPr>
        <p:grpSpPr>
          <a:xfrm>
            <a:off x="1497251" y="2596704"/>
            <a:ext cx="8990518" cy="10231021"/>
            <a:chOff x="5413600" y="1224810"/>
            <a:chExt cx="6161646" cy="563319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F01EBB1-01C9-418A-8AFD-142CE86CCBC4}"/>
                </a:ext>
              </a:extLst>
            </p:cNvPr>
            <p:cNvGrpSpPr/>
            <p:nvPr/>
          </p:nvGrpSpPr>
          <p:grpSpPr>
            <a:xfrm>
              <a:off x="5413600" y="1224810"/>
              <a:ext cx="6161646" cy="5633190"/>
              <a:chOff x="-530503" y="1460115"/>
              <a:chExt cx="4704388" cy="5633190"/>
            </a:xfrm>
          </p:grpSpPr>
          <p:sp>
            <p:nvSpPr>
              <p:cNvPr id="9" name="Rectangle: Rounded Corners 3">
                <a:extLst>
                  <a:ext uri="{FF2B5EF4-FFF2-40B4-BE49-F238E27FC236}">
                    <a16:creationId xmlns:a16="http://schemas.microsoft.com/office/drawing/2014/main" id="{D45F6005-AF52-47FE-B264-A49D19266E85}"/>
                  </a:ext>
                </a:extLst>
              </p:cNvPr>
              <p:cNvSpPr/>
              <p:nvPr/>
            </p:nvSpPr>
            <p:spPr>
              <a:xfrm>
                <a:off x="252950" y="1460115"/>
                <a:ext cx="3268105" cy="546905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Cell Seeding: 2000 and 5000 cells/ well in culture medium (EMEM + 10% HS+ 1% </a:t>
                </a:r>
                <a:r>
                  <a:rPr lang="en-US" sz="2400" dirty="0" err="1">
                    <a:solidFill>
                      <a:schemeClr val="tx1"/>
                    </a:solidFill>
                    <a:latin typeface="Arial     "/>
                  </a:rPr>
                  <a:t>PenStrep</a:t>
                </a:r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)</a:t>
                </a:r>
              </a:p>
            </p:txBody>
          </p:sp>
          <p:sp>
            <p:nvSpPr>
              <p:cNvPr id="10" name="Rectangle: Rounded Corners 4">
                <a:extLst>
                  <a:ext uri="{FF2B5EF4-FFF2-40B4-BE49-F238E27FC236}">
                    <a16:creationId xmlns:a16="http://schemas.microsoft.com/office/drawing/2014/main" id="{10C12E0E-525F-4B13-BCD4-B2472F0494DB}"/>
                  </a:ext>
                </a:extLst>
              </p:cNvPr>
              <p:cNvSpPr/>
              <p:nvPr/>
            </p:nvSpPr>
            <p:spPr>
              <a:xfrm>
                <a:off x="636102" y="2355068"/>
                <a:ext cx="2663687" cy="546905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Incubation for 24h at 37C, 5% CO2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6B3059E-42C4-4785-BF53-A16CDF9C125F}"/>
                  </a:ext>
                </a:extLst>
              </p:cNvPr>
              <p:cNvCxnSpPr>
                <a:cxnSpLocks/>
                <a:endCxn id="10" idx="0"/>
              </p:cNvCxnSpPr>
              <p:nvPr/>
            </p:nvCxnSpPr>
            <p:spPr>
              <a:xfrm>
                <a:off x="1967946" y="2007020"/>
                <a:ext cx="0" cy="348048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ectangle: Rounded Corners 6">
                <a:extLst>
                  <a:ext uri="{FF2B5EF4-FFF2-40B4-BE49-F238E27FC236}">
                    <a16:creationId xmlns:a16="http://schemas.microsoft.com/office/drawing/2014/main" id="{DA4BAC14-EE75-4FE4-8311-5E5854CF75B2}"/>
                  </a:ext>
                </a:extLst>
              </p:cNvPr>
              <p:cNvSpPr/>
              <p:nvPr/>
            </p:nvSpPr>
            <p:spPr>
              <a:xfrm>
                <a:off x="-530503" y="3250021"/>
                <a:ext cx="4704388" cy="121596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rial     "/>
                  </a:rPr>
                  <a:t>IFX conjugates and TNF</a:t>
                </a:r>
                <a:r>
                  <a:rPr lang="el-GR" sz="2400" dirty="0">
                    <a:solidFill>
                      <a:schemeClr val="tx1"/>
                    </a:solidFill>
                    <a:latin typeface="Arial     "/>
                    <a:cs typeface="Arial" panose="020B0604020202020204" pitchFamily="34" charset="0"/>
                  </a:rPr>
                  <a:t>α</a:t>
                </a:r>
                <a:r>
                  <a:rPr lang="en-US" sz="2400" b="1" dirty="0">
                    <a:solidFill>
                      <a:schemeClr val="tx1"/>
                    </a:solidFill>
                    <a:latin typeface="Arial     "/>
                  </a:rPr>
                  <a:t> treatment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Assay medium =EMEM+1% HS+ 1%Penstrep</a:t>
                </a:r>
              </a:p>
              <a:p>
                <a:r>
                  <a:rPr lang="en-US" sz="2400" dirty="0" err="1">
                    <a:solidFill>
                      <a:schemeClr val="tx1"/>
                    </a:solidFill>
                    <a:latin typeface="Arial     "/>
                  </a:rPr>
                  <a:t>TNFa</a:t>
                </a:r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: Final Concentration used= 5 ng/mL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Concentrations tested: 10000 ng/mL ; 3-fold dilution; 8-point DRC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Treatment time: 24h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BEFAB05-8641-4EC3-B3B6-D16D486D2723}"/>
                  </a:ext>
                </a:extLst>
              </p:cNvPr>
              <p:cNvCxnSpPr/>
              <p:nvPr/>
            </p:nvCxnSpPr>
            <p:spPr>
              <a:xfrm>
                <a:off x="1967944" y="2901973"/>
                <a:ext cx="0" cy="348048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1FD0F30-3350-4656-A580-C41C35690A8A}"/>
                  </a:ext>
                </a:extLst>
              </p:cNvPr>
              <p:cNvCxnSpPr/>
              <p:nvPr/>
            </p:nvCxnSpPr>
            <p:spPr>
              <a:xfrm>
                <a:off x="1967944" y="4465983"/>
                <a:ext cx="0" cy="348048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9">
                <a:extLst>
                  <a:ext uri="{FF2B5EF4-FFF2-40B4-BE49-F238E27FC236}">
                    <a16:creationId xmlns:a16="http://schemas.microsoft.com/office/drawing/2014/main" id="{4B6D3ECB-6FAE-460E-93D7-0C49542D829F}"/>
                  </a:ext>
                </a:extLst>
              </p:cNvPr>
              <p:cNvSpPr/>
              <p:nvPr/>
            </p:nvSpPr>
            <p:spPr>
              <a:xfrm>
                <a:off x="636100" y="5645604"/>
                <a:ext cx="2663687" cy="546905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Cell Titer Glo Addition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E8CF387D-3C35-4F56-8FD6-725E3A76928B}"/>
                  </a:ext>
                </a:extLst>
              </p:cNvPr>
              <p:cNvCxnSpPr/>
              <p:nvPr/>
            </p:nvCxnSpPr>
            <p:spPr>
              <a:xfrm>
                <a:off x="1967944" y="6198352"/>
                <a:ext cx="0" cy="348048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1">
                <a:extLst>
                  <a:ext uri="{FF2B5EF4-FFF2-40B4-BE49-F238E27FC236}">
                    <a16:creationId xmlns:a16="http://schemas.microsoft.com/office/drawing/2014/main" id="{99C2BA55-FADB-4A55-8491-69298DB6D533}"/>
                  </a:ext>
                </a:extLst>
              </p:cNvPr>
              <p:cNvSpPr/>
              <p:nvPr/>
            </p:nvSpPr>
            <p:spPr>
              <a:xfrm>
                <a:off x="738722" y="6546400"/>
                <a:ext cx="2485833" cy="546905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Arial     "/>
                  </a:rPr>
                  <a:t>Luminescence Reading </a:t>
                </a:r>
              </a:p>
            </p:txBody>
          </p:sp>
        </p:grpSp>
        <p:sp>
          <p:nvSpPr>
            <p:cNvPr id="7" name="Rectangle: Rounded Corners 13">
              <a:extLst>
                <a:ext uri="{FF2B5EF4-FFF2-40B4-BE49-F238E27FC236}">
                  <a16:creationId xmlns:a16="http://schemas.microsoft.com/office/drawing/2014/main" id="{845380AE-4F96-4A78-9BEF-76E2DD5457D1}"/>
                </a:ext>
              </a:extLst>
            </p:cNvPr>
            <p:cNvSpPr/>
            <p:nvPr/>
          </p:nvSpPr>
          <p:spPr>
            <a:xfrm>
              <a:off x="6944041" y="4552870"/>
              <a:ext cx="3488806" cy="54690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    "/>
                </a:rPr>
                <a:t>Incubation for 24h at 37C, 5% CO2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315A3B0-E70C-4816-B46A-8FA2FEA41174}"/>
                </a:ext>
              </a:extLst>
            </p:cNvPr>
            <p:cNvCxnSpPr/>
            <p:nvPr/>
          </p:nvCxnSpPr>
          <p:spPr>
            <a:xfrm>
              <a:off x="8703917" y="5099775"/>
              <a:ext cx="0" cy="348048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XLfitChart2D B56">
            <a:extLst>
              <a:ext uri="{FF2B5EF4-FFF2-40B4-BE49-F238E27FC236}">
                <a16:creationId xmlns:a16="http://schemas.microsoft.com/office/drawing/2014/main" id="{1A1A41F6-0E5A-4861-91AA-CEE11765A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1421" y="2476334"/>
            <a:ext cx="8807161" cy="588677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E178EA8-3878-43F6-AF05-FA861BCB5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1760"/>
              </p:ext>
            </p:extLst>
          </p:nvPr>
        </p:nvGraphicFramePr>
        <p:xfrm>
          <a:off x="12511421" y="8641139"/>
          <a:ext cx="8807162" cy="1286632"/>
        </p:xfrm>
        <a:graphic>
          <a:graphicData uri="http://schemas.openxmlformats.org/drawingml/2006/table">
            <a:tbl>
              <a:tblPr/>
              <a:tblGrid>
                <a:gridCol w="1727093">
                  <a:extLst>
                    <a:ext uri="{9D8B030D-6E8A-4147-A177-3AD203B41FA5}">
                      <a16:colId xmlns:a16="http://schemas.microsoft.com/office/drawing/2014/main" val="2874115003"/>
                    </a:ext>
                  </a:extLst>
                </a:gridCol>
                <a:gridCol w="2299063">
                  <a:extLst>
                    <a:ext uri="{9D8B030D-6E8A-4147-A177-3AD203B41FA5}">
                      <a16:colId xmlns:a16="http://schemas.microsoft.com/office/drawing/2014/main" val="3416988216"/>
                    </a:ext>
                  </a:extLst>
                </a:gridCol>
                <a:gridCol w="2559731">
                  <a:extLst>
                    <a:ext uri="{9D8B030D-6E8A-4147-A177-3AD203B41FA5}">
                      <a16:colId xmlns:a16="http://schemas.microsoft.com/office/drawing/2014/main" val="2993117209"/>
                    </a:ext>
                  </a:extLst>
                </a:gridCol>
                <a:gridCol w="2221275">
                  <a:extLst>
                    <a:ext uri="{9D8B030D-6E8A-4147-A177-3AD203B41FA5}">
                      <a16:colId xmlns:a16="http://schemas.microsoft.com/office/drawing/2014/main" val="2239658215"/>
                    </a:ext>
                  </a:extLst>
                </a:gridCol>
              </a:tblGrid>
              <a:tr h="534316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    "/>
                          <a:cs typeface="Arial" panose="020B0604020202020204" pitchFamily="34" charset="0"/>
                        </a:rPr>
                        <a:t>Infliximab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486587"/>
                  </a:ext>
                </a:extLst>
              </a:tr>
              <a:tr h="3761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Fit Cell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#Ok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IC50 (ng/mL)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131.02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57367"/>
                  </a:ext>
                </a:extLst>
              </a:tr>
              <a:tr h="3761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Chart Cell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#Ok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Hill slope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    "/>
                        </a:rPr>
                        <a:t>2.48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5789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93670" y="1641412"/>
            <a:ext cx="205697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49057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8ED040-EA05-43E0-B9F1-2FA62960C90E}"/>
              </a:ext>
            </a:extLst>
          </p:cNvPr>
          <p:cNvSpPr/>
          <p:nvPr/>
        </p:nvSpPr>
        <p:spPr>
          <a:xfrm>
            <a:off x="0" y="-9185"/>
            <a:ext cx="24384000" cy="12283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500" dirty="0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4500" dirty="0" err="1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pSTATs</a:t>
            </a:r>
            <a:r>
              <a:rPr lang="en-US" sz="4500" dirty="0">
                <a:solidFill>
                  <a:srgbClr val="1C3CB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expression in CD4/CD33 cells by Flow cytometry</a:t>
            </a:r>
            <a:endParaRPr lang="en-IN" sz="4500" dirty="0">
              <a:solidFill>
                <a:srgbClr val="1C3CB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CEB1D3F8-BF91-4118-9FE7-45F6C0F6484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0422222"/>
                  </p:ext>
                </p:extLst>
              </p:nvPr>
            </p:nvGraphicFramePr>
            <p:xfrm>
              <a:off x="323121" y="1807535"/>
              <a:ext cx="12295600" cy="930242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CEB1D3F8-BF91-4118-9FE7-45F6C0F6484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0422222"/>
                  </p:ext>
                </p:extLst>
              </p:nvPr>
            </p:nvGraphicFramePr>
            <p:xfrm>
              <a:off x="323121" y="1807535"/>
              <a:ext cx="12295600" cy="930242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26403" y="2202235"/>
            <a:ext cx="86487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49714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PSL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L Presentation" id="{2FB33FBC-9388-4115-A521-A58889CED71B}" vid="{6F309A3E-4A92-4147-BAF6-B42E241959C9}"/>
    </a:ext>
  </a:extLst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03151AFA249B409411D2EE7B6D3581" ma:contentTypeVersion="0" ma:contentTypeDescription="Create a new document." ma:contentTypeScope="" ma:versionID="03b9b22d68570d009c2cab09ae683d4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5D54AD-B45E-45D5-A90D-F1C0E617BA95}"/>
</file>

<file path=customXml/itemProps2.xml><?xml version="1.0" encoding="utf-8"?>
<ds:datastoreItem xmlns:ds="http://schemas.openxmlformats.org/officeDocument/2006/customXml" ds:itemID="{EDACD891-D58E-4B37-8C78-0BB0BEB129A1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7660e40-d8c6-4ff0-873e-b078e7b9f19a"/>
    <ds:schemaRef ds:uri="http://purl.org/dc/terms/"/>
    <ds:schemaRef ds:uri="52f0e101-10cc-4009-ad64-5b28bb87851d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D1937A9-347F-4298-A2ED-168BBEE73A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49514</TotalTime>
  <Words>1571</Words>
  <Application>Microsoft Office PowerPoint</Application>
  <PresentationFormat>Custom</PresentationFormat>
  <Paragraphs>251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31" baseType="lpstr">
      <vt:lpstr>Arial</vt:lpstr>
      <vt:lpstr>Arial     </vt:lpstr>
      <vt:lpstr>Arial Black</vt:lpstr>
      <vt:lpstr>Avenir Next</vt:lpstr>
      <vt:lpstr>Avenir Next Demi Bold</vt:lpstr>
      <vt:lpstr>Avenir Next Medium</vt:lpstr>
      <vt:lpstr>Calibri</vt:lpstr>
      <vt:lpstr>Calibri Light</vt:lpstr>
      <vt:lpstr>Cambria Math</vt:lpstr>
      <vt:lpstr>Helvetica Neue</vt:lpstr>
      <vt:lpstr>Helvetica Neue Medium</vt:lpstr>
      <vt:lpstr>Raleway Black</vt:lpstr>
      <vt:lpstr>Roboto</vt:lpstr>
      <vt:lpstr>Times New Roman</vt:lpstr>
      <vt:lpstr>Trade GothicLTStd</vt:lpstr>
      <vt:lpstr>2_Custom Design</vt:lpstr>
      <vt:lpstr>1_Custom Design</vt:lpstr>
      <vt:lpstr>APSL Presentation</vt:lpstr>
      <vt:lpstr>In-vitro Biology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Nair</dc:creator>
  <cp:lastModifiedBy>Vamsee Krishna Chatakonda</cp:lastModifiedBy>
  <cp:revision>3929</cp:revision>
  <cp:lastPrinted>2021-02-22T09:29:28Z</cp:lastPrinted>
  <dcterms:modified xsi:type="dcterms:W3CDTF">2023-08-25T12:08:33Z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0x0101005203151AFA249B409411D2EE7B6D3581</vt:lpwstr>
  </property>
</Properties>
</file>